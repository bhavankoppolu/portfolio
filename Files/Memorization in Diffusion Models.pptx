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0" r:id="rId36"/>
    <p:sldId id="291"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B6421E-6283-4F46-B845-24750E2CF080}">
  <a:tblStyle styleId="{71B6421E-6283-4F46-B845-24750E2CF08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221" autoAdjust="0"/>
  </p:normalViewPr>
  <p:slideViewPr>
    <p:cSldViewPr snapToGrid="0">
      <p:cViewPr varScale="1">
        <p:scale>
          <a:sx n="76" d="100"/>
          <a:sy n="76" d="100"/>
        </p:scale>
        <p:origin x="1000"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afbc93e9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dafbc93e9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e6d373e87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3e6d373e87a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e6d373e87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e6d373e87a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6d373e87a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e6d373e87a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e6d373e87a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e6d373e87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6d373e87a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e6d373e87a_0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e6d373e87a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e6d373e87a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e6d373e87a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e6d373e87a_0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e6d373e87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e6d373e87a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e6d373e87a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e6d373e87a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e6d373e87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e6d373e87a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afbc93e92_3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3dafbc93e92_3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afbc93e92_1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dafbc93e92_1_4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afbc93e92_1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dafbc93e92_1_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dafbc93e92_1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3dafbc93e92_1_2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afbc93e92_1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dafbc93e92_1_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afbc93e92_1_4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dafbc93e92_1_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afbc93e92_3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dafbc93e92_3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afbc93e92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dafbc93e92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afbc93e92_1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dafbc93e92_1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dafbc93e92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dafbc93e92_1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dafbc93e92_1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dafbc93e92_1_3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dafbc93e92_1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3dafbc93e92_1_2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dafbc93e92_1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3dafbc93e92_1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afbc93e92_1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dafbc93e92_1_3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dafbc93e92_1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3dafbc93e92_1_2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dafbc93e92_1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dafbc93e92_1_3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dafbc93e92_1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dafbc93e92_1_2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dafbc93e92_1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dafbc93e92_1_3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afbc93e92_1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dafbc93e92_1_2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dafbc93e92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3dafbc93e92_1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dafbc93e92_1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3dafbc93e92_1_1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dafbc93e92_3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3dafbc93e92_3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dafbc93e92_3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3dafbc93e92_3_1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e6d373e87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e6d373e8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3" name="Google Shape;6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
        <p:cNvGrpSpPr/>
        <p:nvPr/>
      </p:nvGrpSpPr>
      <p:grpSpPr>
        <a:xfrm>
          <a:off x="0" y="0"/>
          <a:ext cx="0" cy="0"/>
          <a:chOff x="0" y="0"/>
          <a:chExt cx="0" cy="0"/>
        </a:xfrm>
      </p:grpSpPr>
      <p:sp>
        <p:nvSpPr>
          <p:cNvPr id="65" name="Google Shape;65;p17"/>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6" name="Google Shape;66;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7" name="Google Shape;6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0" name="Google Shape;70;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1" name="Google Shape;71;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a:t>EEE 598: Generative AI: Theory and Practice</a:t>
            </a:r>
            <a:endParaRPr/>
          </a:p>
        </p:txBody>
      </p:sp>
      <p:sp>
        <p:nvSpPr>
          <p:cNvPr id="100" name="Google Shape;100;p25"/>
          <p:cNvSpPr txBox="1">
            <a:spLocks noGrp="1"/>
          </p:cNvSpPr>
          <p:nvPr>
            <p:ph type="subTitle" idx="1"/>
          </p:nvPr>
        </p:nvSpPr>
        <p:spPr>
          <a:xfrm>
            <a:off x="311700" y="2834125"/>
            <a:ext cx="8520600" cy="1923600"/>
          </a:xfrm>
          <a:prstGeom prst="rect">
            <a:avLst/>
          </a:prstGeom>
          <a:noFill/>
          <a:ln>
            <a:noFill/>
          </a:ln>
        </p:spPr>
        <p:txBody>
          <a:bodyPr spcFirstLastPara="1" wrap="square" lIns="91425" tIns="91425" rIns="91425" bIns="91425" anchor="t" anchorCtr="0">
            <a:normAutofit/>
          </a:bodyPr>
          <a:lstStyle/>
          <a:p>
            <a:pPr marL="0" lvl="0" indent="0" algn="ctr" rtl="0">
              <a:lnSpc>
                <a:spcPct val="80000"/>
              </a:lnSpc>
              <a:spcBef>
                <a:spcPts val="0"/>
              </a:spcBef>
              <a:spcAft>
                <a:spcPts val="0"/>
              </a:spcAft>
              <a:buClr>
                <a:schemeClr val="dk1"/>
              </a:buClr>
              <a:buSzPts val="935"/>
              <a:buFont typeface="Arial"/>
              <a:buNone/>
            </a:pPr>
            <a:r>
              <a:rPr lang="en" sz="1500" dirty="0"/>
              <a:t>Group #11</a:t>
            </a:r>
            <a:endParaRPr sz="2200" dirty="0"/>
          </a:p>
          <a:p>
            <a:pPr marL="0" lvl="0" indent="0" algn="ctr" rtl="0">
              <a:lnSpc>
                <a:spcPct val="80000"/>
              </a:lnSpc>
              <a:spcBef>
                <a:spcPts val="0"/>
              </a:spcBef>
              <a:spcAft>
                <a:spcPts val="0"/>
              </a:spcAft>
              <a:buClr>
                <a:schemeClr val="dk1"/>
              </a:buClr>
              <a:buSzPts val="935"/>
              <a:buFont typeface="Arial"/>
              <a:buNone/>
            </a:pPr>
            <a:endParaRPr sz="2200" dirty="0"/>
          </a:p>
          <a:p>
            <a:pPr marL="0" lvl="0" indent="0" algn="ctr" rtl="0">
              <a:lnSpc>
                <a:spcPct val="80000"/>
              </a:lnSpc>
              <a:spcBef>
                <a:spcPts val="0"/>
              </a:spcBef>
              <a:spcAft>
                <a:spcPts val="0"/>
              </a:spcAft>
              <a:buClr>
                <a:schemeClr val="dk1"/>
              </a:buClr>
              <a:buSzPts val="935"/>
              <a:buFont typeface="Arial"/>
              <a:buNone/>
            </a:pPr>
            <a:r>
              <a:rPr lang="en" sz="2200" dirty="0"/>
              <a:t>Venkata Koppolu (Lead)</a:t>
            </a:r>
            <a:endParaRPr sz="2200" dirty="0"/>
          </a:p>
          <a:p>
            <a:pPr marL="0" lvl="0" indent="0" algn="ctr" rtl="0">
              <a:lnSpc>
                <a:spcPct val="80000"/>
              </a:lnSpc>
              <a:spcBef>
                <a:spcPts val="0"/>
              </a:spcBef>
              <a:spcAft>
                <a:spcPts val="0"/>
              </a:spcAft>
              <a:buSzPts val="935"/>
              <a:buNone/>
            </a:pPr>
            <a:r>
              <a:rPr lang="en" sz="2200" dirty="0"/>
              <a:t>Atmadip Dey</a:t>
            </a:r>
            <a:endParaRPr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Project Topic &amp; Paper Reference</a:t>
            </a:r>
            <a:endParaRPr/>
          </a:p>
        </p:txBody>
      </p:sp>
      <p:sp>
        <p:nvSpPr>
          <p:cNvPr id="106" name="Google Shape;106;p26"/>
          <p:cNvSpPr txBox="1"/>
          <p:nvPr/>
        </p:nvSpPr>
        <p:spPr>
          <a:xfrm>
            <a:off x="579675" y="1356175"/>
            <a:ext cx="7698000" cy="3646800"/>
          </a:xfrm>
          <a:prstGeom prst="rect">
            <a:avLst/>
          </a:prstGeom>
          <a:noFill/>
          <a:ln>
            <a:noFill/>
          </a:ln>
        </p:spPr>
        <p:txBody>
          <a:bodyPr spcFirstLastPara="1" wrap="square" lIns="91425" tIns="91425" rIns="91425" bIns="91425" anchor="t" anchorCtr="0">
            <a:noAutofit/>
          </a:bodyPr>
          <a:lstStyle/>
          <a:p>
            <a:pPr marL="285750" marR="0" lvl="0" indent="-292100" algn="l" rtl="0">
              <a:lnSpc>
                <a:spcPct val="100000"/>
              </a:lnSpc>
              <a:spcBef>
                <a:spcPts val="0"/>
              </a:spcBef>
              <a:spcAft>
                <a:spcPts val="0"/>
              </a:spcAft>
              <a:buClr>
                <a:srgbClr val="000000"/>
              </a:buClr>
              <a:buSzPts val="1900"/>
              <a:buFont typeface="Arial"/>
              <a:buChar char="•"/>
            </a:pPr>
            <a:r>
              <a:rPr lang="en" sz="1900" b="1" i="0" u="none" strike="noStrike" cap="none">
                <a:solidFill>
                  <a:schemeClr val="dk1"/>
                </a:solidFill>
                <a:latin typeface="Arial"/>
                <a:ea typeface="Arial"/>
                <a:cs typeface="Arial"/>
                <a:sym typeface="Arial"/>
              </a:rPr>
              <a:t>Topic: </a:t>
            </a:r>
            <a:r>
              <a:rPr lang="en" sz="1900" b="0" i="0" u="none" strike="noStrike" cap="none">
                <a:solidFill>
                  <a:schemeClr val="dk1"/>
                </a:solidFill>
                <a:latin typeface="Arial"/>
                <a:ea typeface="Arial"/>
                <a:cs typeface="Arial"/>
                <a:sym typeface="Arial"/>
              </a:rPr>
              <a:t>Memorization in Diffusion Models</a:t>
            </a:r>
            <a:endParaRPr sz="1900"/>
          </a:p>
          <a:p>
            <a:pPr marL="285750" marR="0" lvl="0" indent="-292100" algn="l" rtl="0">
              <a:lnSpc>
                <a:spcPct val="100000"/>
              </a:lnSpc>
              <a:spcBef>
                <a:spcPts val="0"/>
              </a:spcBef>
              <a:spcAft>
                <a:spcPts val="0"/>
              </a:spcAft>
              <a:buClr>
                <a:srgbClr val="000000"/>
              </a:buClr>
              <a:buSzPts val="1900"/>
              <a:buFont typeface="Arial"/>
              <a:buChar char="•"/>
            </a:pPr>
            <a:r>
              <a:rPr lang="en" sz="1900" b="1" i="0" u="none" strike="noStrike" cap="none">
                <a:solidFill>
                  <a:schemeClr val="dk1"/>
                </a:solidFill>
                <a:latin typeface="Arial"/>
                <a:ea typeface="Arial"/>
                <a:cs typeface="Arial"/>
                <a:sym typeface="Arial"/>
              </a:rPr>
              <a:t>Main Paper: </a:t>
            </a:r>
            <a:r>
              <a:rPr lang="en" sz="1900" b="0" i="0" u="none" strike="noStrike" cap="none">
                <a:solidFill>
                  <a:schemeClr val="dk1"/>
                </a:solidFill>
                <a:latin typeface="Arial"/>
                <a:ea typeface="Arial"/>
                <a:cs typeface="Arial"/>
                <a:sym typeface="Arial"/>
              </a:rPr>
              <a:t>Gu, X., Du, C., Pang, T., Li, C., Lin, M., &amp; Wang, Y. (2025). On Memorization in Diffusion Models. Transactions on Machine Learning Research</a:t>
            </a:r>
            <a:endParaRPr sz="1900">
              <a:solidFill>
                <a:schemeClr val="dk1"/>
              </a:solidFill>
            </a:endParaRPr>
          </a:p>
          <a:p>
            <a:pPr marL="285750" marR="0" lvl="0" indent="-292100" algn="l" rtl="0">
              <a:lnSpc>
                <a:spcPct val="100000"/>
              </a:lnSpc>
              <a:spcBef>
                <a:spcPts val="0"/>
              </a:spcBef>
              <a:spcAft>
                <a:spcPts val="0"/>
              </a:spcAft>
              <a:buClr>
                <a:schemeClr val="dk1"/>
              </a:buClr>
              <a:buSzPts val="1900"/>
              <a:buChar char="•"/>
            </a:pPr>
            <a:r>
              <a:rPr lang="en" sz="1900" b="1">
                <a:solidFill>
                  <a:schemeClr val="dk1"/>
                </a:solidFill>
              </a:rPr>
              <a:t>Related Paper: </a:t>
            </a:r>
            <a:r>
              <a:rPr lang="en" sz="1900">
                <a:solidFill>
                  <a:schemeClr val="dk1"/>
                </a:solidFill>
              </a:rPr>
              <a:t>Carlini, N., Hayes, J., Nasr, M., Jagielski, M., Sehwag, V., Tramèr, F., Balle, B., Ippolito, D., &amp; Wallace, E. (2023). Extracting training data from diffusion models. arXiv</a:t>
            </a:r>
            <a:endParaRPr sz="1900">
              <a:solidFill>
                <a:schemeClr val="dk1"/>
              </a:solidFill>
            </a:endParaRPr>
          </a:p>
          <a:p>
            <a:pPr marL="285750" marR="0" lvl="2" indent="-292100" algn="l" rtl="0">
              <a:lnSpc>
                <a:spcPct val="100000"/>
              </a:lnSpc>
              <a:spcBef>
                <a:spcPts val="0"/>
              </a:spcBef>
              <a:spcAft>
                <a:spcPts val="0"/>
              </a:spcAft>
              <a:buClr>
                <a:schemeClr val="dk1"/>
              </a:buClr>
              <a:buSzPts val="1900"/>
              <a:buChar char="•"/>
            </a:pPr>
            <a:r>
              <a:rPr lang="en" sz="1900" b="1">
                <a:solidFill>
                  <a:schemeClr val="dk1"/>
                </a:solidFill>
              </a:rPr>
              <a:t>Sol:</a:t>
            </a:r>
            <a:r>
              <a:rPr lang="en" sz="1900">
                <a:solidFill>
                  <a:schemeClr val="dk1"/>
                </a:solidFill>
              </a:rPr>
              <a:t> Jennewein, D. M. et al. (2023). The Sol Supercomputer at Arizona State University. In Practice and Experience in Advanced Research Computing (PEARC ’23), pp. 296–301. ACM</a:t>
            </a:r>
            <a:endParaRPr sz="19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7"/>
          <p:cNvPicPr preferRelativeResize="0"/>
          <p:nvPr/>
        </p:nvPicPr>
        <p:blipFill>
          <a:blip r:embed="rId3">
            <a:alphaModFix/>
          </a:blip>
          <a:stretch>
            <a:fillRect/>
          </a:stretch>
        </p:blipFill>
        <p:spPr>
          <a:xfrm>
            <a:off x="29936" y="258536"/>
            <a:ext cx="8873084" cy="4991101"/>
          </a:xfrm>
          <a:prstGeom prst="rect">
            <a:avLst/>
          </a:prstGeom>
          <a:noFill/>
          <a:ln>
            <a:noFill/>
          </a:ln>
        </p:spPr>
      </p:pic>
      <p:sp>
        <p:nvSpPr>
          <p:cNvPr id="112" name="Google Shape;112;p27"/>
          <p:cNvSpPr txBox="1">
            <a:spLocks noGrp="1"/>
          </p:cNvSpPr>
          <p:nvPr>
            <p:ph type="title"/>
          </p:nvPr>
        </p:nvSpPr>
        <p:spPr>
          <a:xfrm>
            <a:off x="311700" y="1804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500"/>
              <a:t>Motivation</a:t>
            </a:r>
            <a:endParaRPr sz="2500"/>
          </a:p>
        </p:txBody>
      </p:sp>
      <p:sp>
        <p:nvSpPr>
          <p:cNvPr id="113" name="Google Shape;113;p27"/>
          <p:cNvSpPr txBox="1"/>
          <p:nvPr/>
        </p:nvSpPr>
        <p:spPr>
          <a:xfrm>
            <a:off x="0" y="4774200"/>
            <a:ext cx="2320684"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rPr>
              <a:t>Source: Gu et al. (2025)</a:t>
            </a:r>
            <a:endParaRPr sz="12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28"/>
          <p:cNvPicPr preferRelativeResize="0"/>
          <p:nvPr/>
        </p:nvPicPr>
        <p:blipFill>
          <a:blip r:embed="rId3">
            <a:alphaModFix/>
          </a:blip>
          <a:stretch>
            <a:fillRect/>
          </a:stretch>
        </p:blipFill>
        <p:spPr>
          <a:xfrm>
            <a:off x="110369" y="124175"/>
            <a:ext cx="8923262" cy="5019325"/>
          </a:xfrm>
          <a:prstGeom prst="rect">
            <a:avLst/>
          </a:prstGeom>
          <a:noFill/>
          <a:ln>
            <a:noFill/>
          </a:ln>
        </p:spPr>
      </p:pic>
      <p:sp>
        <p:nvSpPr>
          <p:cNvPr id="119" name="Google Shape;119;p28"/>
          <p:cNvSpPr txBox="1">
            <a:spLocks noGrp="1"/>
          </p:cNvSpPr>
          <p:nvPr>
            <p:ph type="title"/>
          </p:nvPr>
        </p:nvSpPr>
        <p:spPr>
          <a:xfrm>
            <a:off x="311700" y="124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Motivation (Cont.)</a:t>
            </a:r>
            <a:endParaRPr/>
          </a:p>
        </p:txBody>
      </p:sp>
      <p:sp>
        <p:nvSpPr>
          <p:cNvPr id="2" name="Google Shape;113;p27">
            <a:extLst>
              <a:ext uri="{FF2B5EF4-FFF2-40B4-BE49-F238E27FC236}">
                <a16:creationId xmlns:a16="http://schemas.microsoft.com/office/drawing/2014/main" id="{4AE869F3-47A5-8007-EA52-4EC37EEDBD5D}"/>
              </a:ext>
            </a:extLst>
          </p:cNvPr>
          <p:cNvSpPr txBox="1"/>
          <p:nvPr/>
        </p:nvSpPr>
        <p:spPr>
          <a:xfrm>
            <a:off x="-367400" y="5408899"/>
            <a:ext cx="2320684"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rPr>
              <a:t>Source: Gu et al. (2025)</a:t>
            </a:r>
            <a:endParaRPr sz="1200" dirty="0">
              <a:solidFill>
                <a:schemeClr val="dk1"/>
              </a:solidFill>
            </a:endParaRPr>
          </a:p>
        </p:txBody>
      </p:sp>
      <p:sp>
        <p:nvSpPr>
          <p:cNvPr id="3" name="Google Shape;113;p27">
            <a:extLst>
              <a:ext uri="{FF2B5EF4-FFF2-40B4-BE49-F238E27FC236}">
                <a16:creationId xmlns:a16="http://schemas.microsoft.com/office/drawing/2014/main" id="{663DD45C-BFFA-CFD0-5784-7BD6636CA0DF}"/>
              </a:ext>
            </a:extLst>
          </p:cNvPr>
          <p:cNvSpPr txBox="1"/>
          <p:nvPr/>
        </p:nvSpPr>
        <p:spPr>
          <a:xfrm>
            <a:off x="0" y="4774200"/>
            <a:ext cx="2320684"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rPr>
              <a:t>Source: Gu et al. (2025)</a:t>
            </a:r>
            <a:endParaRPr sz="12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9"/>
          <p:cNvPicPr preferRelativeResize="0"/>
          <p:nvPr/>
        </p:nvPicPr>
        <p:blipFill>
          <a:blip r:embed="rId3">
            <a:alphaModFix/>
          </a:blip>
          <a:stretch>
            <a:fillRect/>
          </a:stretch>
        </p:blipFill>
        <p:spPr>
          <a:xfrm>
            <a:off x="-40827" y="69904"/>
            <a:ext cx="9144004" cy="5143500"/>
          </a:xfrm>
          <a:prstGeom prst="rect">
            <a:avLst/>
          </a:prstGeom>
          <a:noFill/>
          <a:ln>
            <a:noFill/>
          </a:ln>
        </p:spPr>
      </p:pic>
      <p:sp>
        <p:nvSpPr>
          <p:cNvPr id="126" name="Google Shape;126;p29"/>
          <p:cNvSpPr txBox="1">
            <a:spLocks noGrp="1"/>
          </p:cNvSpPr>
          <p:nvPr>
            <p:ph type="title"/>
          </p:nvPr>
        </p:nvSpPr>
        <p:spPr>
          <a:xfrm>
            <a:off x="311700" y="1241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520"/>
              <a:t>Positives and Negatives of the DSM Loss</a:t>
            </a:r>
            <a:endParaRPr sz="252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Goal of the Paper</a:t>
            </a:r>
            <a:endParaRPr/>
          </a:p>
        </p:txBody>
      </p:sp>
      <p:sp>
        <p:nvSpPr>
          <p:cNvPr id="132" name="Google Shape;132;p30"/>
          <p:cNvSpPr txBox="1"/>
          <p:nvPr/>
        </p:nvSpPr>
        <p:spPr>
          <a:xfrm>
            <a:off x="579663" y="816429"/>
            <a:ext cx="7952100" cy="360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rPr>
              <a:t>Goal: </a:t>
            </a:r>
            <a:endParaRPr sz="1800" b="1">
              <a:solidFill>
                <a:schemeClr val="dk1"/>
              </a:solidFill>
            </a:endParaRPr>
          </a:p>
          <a:p>
            <a:pPr marL="0" lvl="0" indent="0" algn="l" rtl="0">
              <a:lnSpc>
                <a:spcPct val="115000"/>
              </a:lnSpc>
              <a:spcBef>
                <a:spcPts val="0"/>
              </a:spcBef>
              <a:spcAft>
                <a:spcPts val="0"/>
              </a:spcAft>
              <a:buNone/>
            </a:pPr>
            <a:r>
              <a:rPr lang="en" sz="1800">
                <a:solidFill>
                  <a:schemeClr val="dk1"/>
                </a:solidFill>
              </a:rPr>
              <a:t>Provide an a comprehensive empirical study on memorization behavior in widely adopted diffusion models, including EDM (Karras et al., 2022) and Stable Diffusion (Rombach et al., 2022) by tuning certain parameters across</a:t>
            </a:r>
            <a:endParaRPr sz="1800">
              <a:solidFill>
                <a:schemeClr val="dk1"/>
              </a:solidFill>
            </a:endParaRPr>
          </a:p>
          <a:p>
            <a:pPr marL="0" lvl="0" indent="0" algn="l" rtl="0">
              <a:lnSpc>
                <a:spcPct val="115000"/>
              </a:lnSpc>
              <a:spcBef>
                <a:spcPts val="0"/>
              </a:spcBef>
              <a:spcAft>
                <a:spcPts val="0"/>
              </a:spcAft>
              <a:buNone/>
            </a:pPr>
            <a:r>
              <a:rPr lang="en" sz="1800">
                <a:solidFill>
                  <a:schemeClr val="dk1"/>
                </a:solidFill>
              </a:rPr>
              <a:t>the model, dataset and training process.</a:t>
            </a: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r>
              <a:rPr lang="en" sz="1800" b="1">
                <a:solidFill>
                  <a:schemeClr val="dk1"/>
                </a:solidFill>
              </a:rPr>
              <a:t>Core Idea:</a:t>
            </a:r>
            <a:r>
              <a:rPr lang="en" sz="1800">
                <a:solidFill>
                  <a:schemeClr val="dk1"/>
                </a:solidFill>
              </a:rPr>
              <a:t> </a:t>
            </a:r>
            <a:br>
              <a:rPr lang="en" sz="1800">
                <a:solidFill>
                  <a:schemeClr val="dk1"/>
                </a:solidFill>
              </a:rPr>
            </a:br>
            <a:r>
              <a:rPr lang="en" sz="1800">
                <a:solidFill>
                  <a:schemeClr val="dk1"/>
                </a:solidFill>
              </a:rPr>
              <a:t>Generalization is not what diffusion models are designed to do. It is what happens when they fail to fully memorize.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285750" marR="0" lvl="0" indent="-184150" algn="l" rtl="0">
              <a:lnSpc>
                <a:spcPct val="100000"/>
              </a:lnSpc>
              <a:spcBef>
                <a:spcPts val="0"/>
              </a:spcBef>
              <a:spcAft>
                <a:spcPts val="0"/>
              </a:spcAft>
              <a:buClr>
                <a:srgbClr val="000000"/>
              </a:buClr>
              <a:buSzPts val="1600"/>
              <a:buFont typeface="Arial"/>
              <a:buNone/>
            </a:pP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1"/>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Key Ideas from the Paper</a:t>
            </a:r>
            <a:endParaRPr/>
          </a:p>
        </p:txBody>
      </p:sp>
      <p:sp>
        <p:nvSpPr>
          <p:cNvPr id="138" name="Google Shape;138;p31"/>
          <p:cNvSpPr txBox="1"/>
          <p:nvPr/>
        </p:nvSpPr>
        <p:spPr>
          <a:xfrm>
            <a:off x="579663" y="816429"/>
            <a:ext cx="7952100" cy="360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rPr>
              <a:t>How Memorization is Defined: </a:t>
            </a:r>
            <a:endParaRPr sz="1800">
              <a:solidFill>
                <a:schemeClr val="dk1"/>
              </a:solidFill>
            </a:endParaRPr>
          </a:p>
          <a:p>
            <a:pPr marL="0" lvl="0" indent="0" algn="l" rtl="0">
              <a:lnSpc>
                <a:spcPct val="115000"/>
              </a:lnSpc>
              <a:spcBef>
                <a:spcPts val="0"/>
              </a:spcBef>
              <a:spcAft>
                <a:spcPts val="0"/>
              </a:spcAft>
              <a:buNone/>
            </a:pPr>
            <a:r>
              <a:rPr lang="en" sz="1800">
                <a:solidFill>
                  <a:schemeClr val="dk1"/>
                </a:solidFill>
              </a:rPr>
              <a:t>Compare generated image to nearest training samples. Compute distance ratio: ratio=d1/d2 where d1 is distance to nearest neighbor and d2 is distance to second nearest neighbor</a:t>
            </a: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r>
              <a:rPr lang="en" sz="1800">
                <a:solidFill>
                  <a:schemeClr val="dk1"/>
                </a:solidFill>
              </a:rPr>
              <a:t>Memorization Criterion: If ratio &lt; threshold (≈ 1/3) → memorized sample, otherwise → generalized sample</a:t>
            </a: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r>
              <a:rPr lang="en" sz="1800">
                <a:solidFill>
                  <a:schemeClr val="dk1"/>
                </a:solidFill>
              </a:rPr>
              <a:t>Note: The paper adopts the memorization criterion from Yoon et al. (2023). </a:t>
            </a: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285750" marR="0" lvl="0" indent="-184150" algn="l" rtl="0">
              <a:lnSpc>
                <a:spcPct val="100000"/>
              </a:lnSpc>
              <a:spcBef>
                <a:spcPts val="0"/>
              </a:spcBef>
              <a:spcAft>
                <a:spcPts val="0"/>
              </a:spcAft>
              <a:buClr>
                <a:srgbClr val="000000"/>
              </a:buClr>
              <a:buSzPts val="1600"/>
              <a:buFont typeface="Arial"/>
              <a:buNone/>
            </a:pP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2"/>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Defintions of Memorization Metrics</a:t>
            </a:r>
            <a:endParaRPr/>
          </a:p>
        </p:txBody>
      </p:sp>
      <p:sp>
        <p:nvSpPr>
          <p:cNvPr id="144" name="Google Shape;144;p32"/>
          <p:cNvSpPr txBox="1"/>
          <p:nvPr/>
        </p:nvSpPr>
        <p:spPr>
          <a:xfrm>
            <a:off x="579663" y="816429"/>
            <a:ext cx="7952100" cy="36087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sz="1800" b="1">
                <a:solidFill>
                  <a:schemeClr val="dk1"/>
                </a:solidFill>
              </a:rPr>
              <a:t>External Review - Carlini et al. 2023:</a:t>
            </a:r>
            <a:endParaRPr sz="1800" b="1">
              <a:solidFill>
                <a:schemeClr val="dk1"/>
              </a:solidFill>
            </a:endParaRPr>
          </a:p>
          <a:p>
            <a:pPr marL="457200" lvl="0" indent="0" algn="l" rtl="0">
              <a:lnSpc>
                <a:spcPct val="115000"/>
              </a:lnSpc>
              <a:spcBef>
                <a:spcPts val="0"/>
              </a:spcBef>
              <a:spcAft>
                <a:spcPts val="0"/>
              </a:spcAft>
              <a:buNone/>
            </a:pPr>
            <a:r>
              <a:rPr lang="en" sz="1800">
                <a:solidFill>
                  <a:schemeClr val="dk1"/>
                </a:solidFill>
              </a:rPr>
              <a:t>The fraction of generated images that can be matched to a specific training image by an automated detector or human judge.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b="1">
                <a:solidFill>
                  <a:schemeClr val="dk1"/>
                </a:solidFill>
              </a:rPr>
              <a:t>KNN Distance - Carlini et al. 2023:</a:t>
            </a:r>
            <a:endParaRPr sz="1800" b="1">
              <a:solidFill>
                <a:schemeClr val="dk1"/>
              </a:solidFill>
            </a:endParaRPr>
          </a:p>
          <a:p>
            <a:pPr marL="457200" lvl="0" indent="0" algn="l" rtl="0">
              <a:lnSpc>
                <a:spcPct val="115000"/>
              </a:lnSpc>
              <a:spcBef>
                <a:spcPts val="0"/>
              </a:spcBef>
              <a:spcAft>
                <a:spcPts val="0"/>
              </a:spcAft>
              <a:buNone/>
            </a:pPr>
            <a:r>
              <a:rPr lang="en" sz="1800">
                <a:solidFill>
                  <a:schemeClr val="dk1"/>
                </a:solidFill>
              </a:rPr>
              <a:t>Mean L2 distance from each generated image to its single nearest training neighbor (d1 alone, no ratio).</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b="1">
                <a:solidFill>
                  <a:schemeClr val="dk1"/>
                </a:solidFill>
              </a:rPr>
              <a:t>SSCD Embedding Similarity - Somepalli et al. 2023:</a:t>
            </a:r>
            <a:endParaRPr sz="1800" b="1">
              <a:solidFill>
                <a:schemeClr val="dk1"/>
              </a:solidFill>
            </a:endParaRPr>
          </a:p>
          <a:p>
            <a:pPr marL="457200" lvl="0" indent="0" algn="l" rtl="0">
              <a:lnSpc>
                <a:spcPct val="115000"/>
              </a:lnSpc>
              <a:spcBef>
                <a:spcPts val="0"/>
              </a:spcBef>
              <a:spcAft>
                <a:spcPts val="0"/>
              </a:spcAft>
              <a:buClr>
                <a:schemeClr val="dk1"/>
              </a:buClr>
              <a:buSzPts val="1100"/>
              <a:buFont typeface="Arial"/>
              <a:buNone/>
            </a:pPr>
            <a:r>
              <a:rPr lang="en" sz="1800">
                <a:solidFill>
                  <a:schemeClr val="dk1"/>
                </a:solidFill>
              </a:rPr>
              <a:t>Computes similarity in a semantic embedding space using SSCD, a self-supervised copy detection network, rather than raw pixel values.</a:t>
            </a:r>
            <a:endParaRPr sz="1800">
              <a:solidFill>
                <a:schemeClr val="dk1"/>
              </a:solidFill>
            </a:endParaRPr>
          </a:p>
          <a:p>
            <a:pPr marL="457200" lvl="0" indent="0" algn="l" rtl="0">
              <a:lnSpc>
                <a:spcPct val="115000"/>
              </a:lnSpc>
              <a:spcBef>
                <a:spcPts val="0"/>
              </a:spcBef>
              <a:spcAft>
                <a:spcPts val="0"/>
              </a:spcAft>
              <a:buNone/>
            </a:pPr>
            <a:endParaRPr sz="1800">
              <a:solidFill>
                <a:schemeClr val="dk1"/>
              </a:solidFill>
            </a:endParaRPr>
          </a:p>
          <a:p>
            <a:pPr marL="45720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45720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800">
              <a:solidFill>
                <a:schemeClr val="dk1"/>
              </a:solidFill>
            </a:endParaRPr>
          </a:p>
          <a:p>
            <a:pPr marL="285750" marR="0" lvl="0" indent="-184150" algn="l" rtl="0">
              <a:lnSpc>
                <a:spcPct val="100000"/>
              </a:lnSpc>
              <a:spcBef>
                <a:spcPts val="0"/>
              </a:spcBef>
              <a:spcAft>
                <a:spcPts val="0"/>
              </a:spcAft>
              <a:buClr>
                <a:srgbClr val="000000"/>
              </a:buClr>
              <a:buSzPts val="1600"/>
              <a:buFont typeface="Arial"/>
              <a:buNone/>
            </a:pP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3"/>
          <p:cNvPicPr preferRelativeResize="0"/>
          <p:nvPr/>
        </p:nvPicPr>
        <p:blipFill>
          <a:blip r:embed="rId3">
            <a:alphaModFix/>
          </a:blip>
          <a:stretch>
            <a:fillRect/>
          </a:stretch>
        </p:blipFill>
        <p:spPr>
          <a:xfrm>
            <a:off x="152400" y="108650"/>
            <a:ext cx="8950832" cy="5034850"/>
          </a:xfrm>
          <a:prstGeom prst="rect">
            <a:avLst/>
          </a:prstGeom>
          <a:noFill/>
          <a:ln>
            <a:noFill/>
          </a:ln>
        </p:spPr>
      </p:pic>
      <p:sp>
        <p:nvSpPr>
          <p:cNvPr id="150" name="Google Shape;150;p33"/>
          <p:cNvSpPr txBox="1">
            <a:spLocks noGrp="1"/>
          </p:cNvSpPr>
          <p:nvPr>
            <p:ph type="title"/>
          </p:nvPr>
        </p:nvSpPr>
        <p:spPr>
          <a:xfrm>
            <a:off x="311700" y="124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111111"/>
              <a:buFont typeface="Arial"/>
              <a:buNone/>
            </a:pPr>
            <a:r>
              <a:rPr lang="en"/>
              <a:t>Key Ideas from the Paper (Cont.)</a:t>
            </a:r>
            <a:endParaRPr/>
          </a:p>
        </p:txBody>
      </p:sp>
      <p:sp>
        <p:nvSpPr>
          <p:cNvPr id="2" name="Google Shape;113;p27">
            <a:extLst>
              <a:ext uri="{FF2B5EF4-FFF2-40B4-BE49-F238E27FC236}">
                <a16:creationId xmlns:a16="http://schemas.microsoft.com/office/drawing/2014/main" id="{5EB56D7F-87CF-492D-3BE2-67746AD0D205}"/>
              </a:ext>
            </a:extLst>
          </p:cNvPr>
          <p:cNvSpPr txBox="1"/>
          <p:nvPr/>
        </p:nvSpPr>
        <p:spPr>
          <a:xfrm>
            <a:off x="0" y="4774200"/>
            <a:ext cx="2320684"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rPr>
              <a:t>Source: Gu et al. (2025)</a:t>
            </a:r>
            <a:endParaRPr sz="12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4"/>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rgbClr val="000000"/>
              </a:buClr>
              <a:buSzPct val="111111"/>
              <a:buFont typeface="Arial"/>
              <a:buNone/>
            </a:pPr>
            <a:r>
              <a:rPr lang="en"/>
              <a:t>Hypotheses Tested in the Paper</a:t>
            </a:r>
            <a:endParaRPr/>
          </a:p>
        </p:txBody>
      </p:sp>
      <p:sp>
        <p:nvSpPr>
          <p:cNvPr id="157" name="Google Shape;157;p34"/>
          <p:cNvSpPr txBox="1"/>
          <p:nvPr/>
        </p:nvSpPr>
        <p:spPr>
          <a:xfrm>
            <a:off x="579663" y="816429"/>
            <a:ext cx="7952100" cy="3608700"/>
          </a:xfrm>
          <a:prstGeom prst="rect">
            <a:avLst/>
          </a:prstGeom>
          <a:noFill/>
          <a:ln>
            <a:noFill/>
          </a:ln>
        </p:spPr>
        <p:txBody>
          <a:bodyPr spcFirstLastPara="1" wrap="square" lIns="91425" tIns="91425" rIns="91425" bIns="91425" anchor="t" anchorCtr="0">
            <a:noAutofit/>
          </a:bodyPr>
          <a:lstStyle/>
          <a:p>
            <a:pPr marL="457200" marR="0" lvl="0" indent="-336550" algn="l" rtl="0">
              <a:lnSpc>
                <a:spcPct val="100000"/>
              </a:lnSpc>
              <a:spcBef>
                <a:spcPts val="0"/>
              </a:spcBef>
              <a:spcAft>
                <a:spcPts val="0"/>
              </a:spcAft>
              <a:buClr>
                <a:schemeClr val="dk1"/>
              </a:buClr>
              <a:buSzPts val="1700"/>
              <a:buChar char="●"/>
            </a:pPr>
            <a:r>
              <a:rPr lang="en" sz="1700" b="1">
                <a:solidFill>
                  <a:schemeClr val="dk1"/>
                </a:solidFill>
              </a:rPr>
              <a:t>Data Distribution:</a:t>
            </a:r>
            <a:r>
              <a:rPr lang="en" sz="1700">
                <a:solidFill>
                  <a:schemeClr val="dk1"/>
                </a:solidFill>
              </a:rPr>
              <a:t> Dataset size, Data dimensionality, Number of classes, Intra-class diversity</a:t>
            </a:r>
            <a:endParaRPr sz="1700">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 sz="1700" b="1">
                <a:solidFill>
                  <a:schemeClr val="dk1"/>
                </a:solidFill>
              </a:rPr>
              <a:t>Model Configuration:</a:t>
            </a:r>
            <a:r>
              <a:rPr lang="en" sz="1700">
                <a:solidFill>
                  <a:schemeClr val="dk1"/>
                </a:solidFill>
              </a:rPr>
              <a:t> Model width, Model depth, Time embedding type, Skip connections </a:t>
            </a:r>
            <a:endParaRPr sz="1700">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 sz="1700" b="1">
                <a:solidFill>
                  <a:schemeClr val="dk1"/>
                </a:solidFill>
              </a:rPr>
              <a:t>Training Procedure:</a:t>
            </a:r>
            <a:r>
              <a:rPr lang="en" sz="1700">
                <a:solidFill>
                  <a:schemeClr val="dk1"/>
                </a:solidFill>
              </a:rPr>
              <a:t> Training duration, Batch size, Weight decay, EMA </a:t>
            </a:r>
            <a:endParaRPr sz="1700">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 sz="1700" b="1">
                <a:solidFill>
                  <a:schemeClr val="dk1"/>
                </a:solidFill>
              </a:rPr>
              <a:t>Conditioning:</a:t>
            </a:r>
            <a:r>
              <a:rPr lang="en" sz="1700">
                <a:solidFill>
                  <a:schemeClr val="dk1"/>
                </a:solidFill>
              </a:rPr>
              <a:t> Unconditional vs conditional, Random labels, Unique labels</a:t>
            </a:r>
            <a:endParaRPr sz="1700">
              <a:solidFill>
                <a:schemeClr val="dk1"/>
              </a:solidFill>
            </a:endParaRPr>
          </a:p>
          <a:p>
            <a:pPr marL="285750" marR="0" lvl="0" indent="-184150" algn="l" rtl="0">
              <a:lnSpc>
                <a:spcPct val="100000"/>
              </a:lnSpc>
              <a:spcBef>
                <a:spcPts val="0"/>
              </a:spcBef>
              <a:spcAft>
                <a:spcPts val="0"/>
              </a:spcAft>
              <a:buClr>
                <a:srgbClr val="000000"/>
              </a:buClr>
              <a:buSzPts val="1600"/>
              <a:buFont typeface="Arial"/>
              <a:buNone/>
            </a:pPr>
            <a:endParaRPr sz="1700">
              <a:solidFill>
                <a:schemeClr val="dk1"/>
              </a:solidFill>
            </a:endParaRPr>
          </a:p>
          <a:p>
            <a:pPr marL="285750" marR="0" lvl="0" indent="-184150" algn="l" rtl="0">
              <a:lnSpc>
                <a:spcPct val="100000"/>
              </a:lnSpc>
              <a:spcBef>
                <a:spcPts val="0"/>
              </a:spcBef>
              <a:spcAft>
                <a:spcPts val="0"/>
              </a:spcAft>
              <a:buClr>
                <a:srgbClr val="000000"/>
              </a:buClr>
              <a:buSzPts val="1600"/>
              <a:buFont typeface="Arial"/>
              <a:buNone/>
            </a:pPr>
            <a:endParaRPr sz="1700">
              <a:solidFill>
                <a:schemeClr val="dk1"/>
              </a:solidFill>
            </a:endParaRPr>
          </a:p>
        </p:txBody>
      </p:sp>
      <p:pic>
        <p:nvPicPr>
          <p:cNvPr id="158" name="Google Shape;158;p34"/>
          <p:cNvPicPr preferRelativeResize="0"/>
          <p:nvPr/>
        </p:nvPicPr>
        <p:blipFill rotWithShape="1">
          <a:blip r:embed="rId3">
            <a:alphaModFix/>
          </a:blip>
          <a:srcRect/>
          <a:stretch/>
        </p:blipFill>
        <p:spPr>
          <a:xfrm>
            <a:off x="1002300" y="2783585"/>
            <a:ext cx="3444370" cy="2091846"/>
          </a:xfrm>
          <a:prstGeom prst="rect">
            <a:avLst/>
          </a:prstGeom>
          <a:noFill/>
          <a:ln>
            <a:noFill/>
          </a:ln>
        </p:spPr>
      </p:pic>
      <p:pic>
        <p:nvPicPr>
          <p:cNvPr id="159" name="Google Shape;159;p34"/>
          <p:cNvPicPr preferRelativeResize="0"/>
          <p:nvPr/>
        </p:nvPicPr>
        <p:blipFill rotWithShape="1">
          <a:blip r:embed="rId4">
            <a:alphaModFix/>
          </a:blip>
          <a:srcRect/>
          <a:stretch/>
        </p:blipFill>
        <p:spPr>
          <a:xfrm>
            <a:off x="4772193" y="2756456"/>
            <a:ext cx="3369498" cy="2091845"/>
          </a:xfrm>
          <a:prstGeom prst="rect">
            <a:avLst/>
          </a:prstGeom>
          <a:noFill/>
          <a:ln>
            <a:noFill/>
          </a:ln>
        </p:spPr>
      </p:pic>
      <p:sp>
        <p:nvSpPr>
          <p:cNvPr id="2" name="Google Shape;113;p27">
            <a:extLst>
              <a:ext uri="{FF2B5EF4-FFF2-40B4-BE49-F238E27FC236}">
                <a16:creationId xmlns:a16="http://schemas.microsoft.com/office/drawing/2014/main" id="{DEC52839-E541-E69E-4CAA-C428A5790611}"/>
              </a:ext>
            </a:extLst>
          </p:cNvPr>
          <p:cNvSpPr txBox="1"/>
          <p:nvPr/>
        </p:nvSpPr>
        <p:spPr>
          <a:xfrm>
            <a:off x="0" y="4774200"/>
            <a:ext cx="2320684"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1"/>
                </a:solidFill>
              </a:rPr>
              <a:t>Source: Gu et al. (2025)</a:t>
            </a:r>
            <a:endParaRPr sz="12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5"/>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Goal of Project</a:t>
            </a:r>
            <a:endParaRPr/>
          </a:p>
        </p:txBody>
      </p:sp>
      <p:sp>
        <p:nvSpPr>
          <p:cNvPr id="166" name="Google Shape;166;p35"/>
          <p:cNvSpPr txBox="1"/>
          <p:nvPr/>
        </p:nvSpPr>
        <p:spPr>
          <a:xfrm>
            <a:off x="579664" y="816430"/>
            <a:ext cx="7103100" cy="33720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1"/>
              </a:buClr>
              <a:buSzPts val="1800"/>
              <a:buFont typeface="Arial"/>
              <a:buChar char="●"/>
            </a:pPr>
            <a:r>
              <a:rPr lang="en" sz="1800">
                <a:solidFill>
                  <a:schemeClr val="dk1"/>
                </a:solidFill>
              </a:rPr>
              <a:t>Verify the </a:t>
            </a:r>
            <a:r>
              <a:rPr lang="en" sz="1800" b="0" i="0" u="none" strike="noStrike" cap="none">
                <a:solidFill>
                  <a:schemeClr val="dk1"/>
                </a:solidFill>
                <a:latin typeface="Arial"/>
                <a:ea typeface="Arial"/>
                <a:cs typeface="Arial"/>
                <a:sym typeface="Arial"/>
              </a:rPr>
              <a:t>core findings of Gu et al. (2025) using a simplified DDPM model based on U-Net architecture on CIFAR-10.</a:t>
            </a:r>
            <a:endParaRPr/>
          </a:p>
          <a:p>
            <a:pPr marL="457200" lvl="0" indent="-342900" algn="l" rtl="0">
              <a:spcBef>
                <a:spcPts val="0"/>
              </a:spcBef>
              <a:spcAft>
                <a:spcPts val="0"/>
              </a:spcAft>
              <a:buClr>
                <a:schemeClr val="dk1"/>
              </a:buClr>
              <a:buSzPts val="1800"/>
              <a:buChar char="●"/>
            </a:pPr>
            <a:r>
              <a:rPr lang="en" sz="1800" b="1">
                <a:solidFill>
                  <a:schemeClr val="dk1"/>
                </a:solidFill>
              </a:rPr>
              <a:t>Experiment A:</a:t>
            </a:r>
            <a:r>
              <a:rPr lang="en" sz="1800">
                <a:solidFill>
                  <a:schemeClr val="dk1"/>
                </a:solidFill>
              </a:rPr>
              <a:t> Conditioning Type; Compare unconditional, normal, random, and unique labels. Show unique labels trigger the most memorization</a:t>
            </a:r>
            <a:endParaRPr sz="1800">
              <a:solidFill>
                <a:schemeClr val="dk1"/>
              </a:solidFill>
            </a:endParaRPr>
          </a:p>
          <a:p>
            <a:pPr marL="457200" lvl="0" indent="-342900" algn="l" rtl="0">
              <a:spcBef>
                <a:spcPts val="0"/>
              </a:spcBef>
              <a:spcAft>
                <a:spcPts val="0"/>
              </a:spcAft>
              <a:buClr>
                <a:schemeClr val="dk1"/>
              </a:buClr>
              <a:buSzPts val="1800"/>
              <a:buChar char="●"/>
            </a:pPr>
            <a:r>
              <a:rPr lang="en" sz="1800" b="1">
                <a:solidFill>
                  <a:schemeClr val="dk1"/>
                </a:solidFill>
              </a:rPr>
              <a:t>Experiment B: </a:t>
            </a:r>
            <a:r>
              <a:rPr lang="en" sz="1800">
                <a:solidFill>
                  <a:schemeClr val="dk1"/>
                </a:solidFill>
              </a:rPr>
              <a:t>Dataset Size; Show memorization increases as training set size decreases</a:t>
            </a:r>
            <a:endParaRPr sz="1800">
              <a:solidFill>
                <a:schemeClr val="dk1"/>
              </a:solidFill>
            </a:endParaRPr>
          </a:p>
          <a:p>
            <a:pPr marL="457200" lvl="0" indent="-342900" algn="l" rtl="0">
              <a:spcBef>
                <a:spcPts val="0"/>
              </a:spcBef>
              <a:spcAft>
                <a:spcPts val="0"/>
              </a:spcAft>
              <a:buClr>
                <a:schemeClr val="dk1"/>
              </a:buClr>
              <a:buSzPts val="1800"/>
              <a:buChar char="●"/>
            </a:pPr>
            <a:r>
              <a:rPr lang="en" sz="1800" b="1">
                <a:solidFill>
                  <a:schemeClr val="dk1"/>
                </a:solidFill>
              </a:rPr>
              <a:t>Experiment C: </a:t>
            </a:r>
            <a:r>
              <a:rPr lang="en" sz="1800">
                <a:solidFill>
                  <a:schemeClr val="dk1"/>
                </a:solidFill>
              </a:rPr>
              <a:t>Training Time; Show memorization increases with more training epochs</a:t>
            </a:r>
            <a:endParaRPr sz="1800">
              <a:solidFill>
                <a:schemeClr val="dk1"/>
              </a:solidFill>
            </a:endParaRPr>
          </a:p>
          <a:p>
            <a:pPr marL="457200" lvl="0" indent="-342900" algn="l" rtl="0">
              <a:spcBef>
                <a:spcPts val="0"/>
              </a:spcBef>
              <a:spcAft>
                <a:spcPts val="0"/>
              </a:spcAft>
              <a:buClr>
                <a:schemeClr val="dk1"/>
              </a:buClr>
              <a:buSzPts val="1800"/>
              <a:buChar char="●"/>
            </a:pPr>
            <a:r>
              <a:rPr lang="en" sz="1800" b="1">
                <a:solidFill>
                  <a:schemeClr val="dk1"/>
                </a:solidFill>
              </a:rPr>
              <a:t>Experiment D:</a:t>
            </a:r>
            <a:r>
              <a:rPr lang="en" sz="1800">
                <a:solidFill>
                  <a:schemeClr val="dk1"/>
                </a:solidFill>
              </a:rPr>
              <a:t> Varying Random Classes; Show memorization increases as the number of random classes C grows.</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000"/>
              <a:buNone/>
            </a:pPr>
            <a:r>
              <a:rPr lang="en" b="1"/>
              <a:t>Dataset For Experiments</a:t>
            </a:r>
            <a:endParaRPr>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7"/>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CIFAR-10 Dataset</a:t>
            </a:r>
            <a:endParaRPr/>
          </a:p>
        </p:txBody>
      </p:sp>
      <p:sp>
        <p:nvSpPr>
          <p:cNvPr id="177" name="Google Shape;177;p37"/>
          <p:cNvSpPr txBox="1"/>
          <p:nvPr/>
        </p:nvSpPr>
        <p:spPr>
          <a:xfrm>
            <a:off x="457200" y="3724449"/>
            <a:ext cx="8026500" cy="11802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1"/>
              </a:buClr>
              <a:buSzPts val="1800"/>
              <a:buFont typeface="Arial"/>
              <a:buChar char="●"/>
            </a:pPr>
            <a:r>
              <a:rPr lang="en" sz="1800" b="0" i="0" u="none" strike="noStrike" cap="none">
                <a:solidFill>
                  <a:schemeClr val="dk1"/>
                </a:solidFill>
                <a:latin typeface="Arial"/>
                <a:ea typeface="Arial"/>
                <a:cs typeface="Arial"/>
                <a:sym typeface="Arial"/>
              </a:rPr>
              <a:t>CIFAR-10 (Krizhevsky, 2009): 50,000 training images, 10 classes, 32x32 RGB</a:t>
            </a:r>
            <a:endParaRPr sz="1800"/>
          </a:p>
          <a:p>
            <a:pPr marL="457200" marR="0" lvl="0" indent="-342900" algn="l" rtl="0">
              <a:lnSpc>
                <a:spcPct val="100000"/>
              </a:lnSpc>
              <a:spcBef>
                <a:spcPts val="0"/>
              </a:spcBef>
              <a:spcAft>
                <a:spcPts val="0"/>
              </a:spcAft>
              <a:buClr>
                <a:schemeClr val="dk1"/>
              </a:buClr>
              <a:buSzPts val="1800"/>
              <a:buFont typeface="Arial"/>
              <a:buChar char="●"/>
            </a:pPr>
            <a:r>
              <a:rPr lang="en" sz="1800" b="0" i="0" u="none" strike="noStrike" cap="none">
                <a:solidFill>
                  <a:schemeClr val="dk1"/>
                </a:solidFill>
                <a:latin typeface="Arial"/>
                <a:ea typeface="Arial"/>
                <a:cs typeface="Arial"/>
                <a:sym typeface="Arial"/>
              </a:rPr>
              <a:t>Classes: airplane, automobile, bird, cat, deer, dog, frog, horse, ship, truck</a:t>
            </a:r>
            <a:r>
              <a:rPr lang="en" sz="1800">
                <a:solidFill>
                  <a:schemeClr val="dk1"/>
                </a:solidFill>
              </a:rPr>
              <a:t>;</a:t>
            </a:r>
            <a:r>
              <a:rPr lang="en" sz="1800" b="0" i="0" u="none" strike="noStrike" cap="none">
                <a:solidFill>
                  <a:schemeClr val="dk1"/>
                </a:solidFill>
                <a:latin typeface="Arial"/>
                <a:ea typeface="Arial"/>
                <a:cs typeface="Arial"/>
                <a:sym typeface="Arial"/>
              </a:rPr>
              <a:t> 5,000 images per class</a:t>
            </a:r>
            <a:endParaRPr sz="1800"/>
          </a:p>
        </p:txBody>
      </p:sp>
      <p:pic>
        <p:nvPicPr>
          <p:cNvPr id="178" name="Google Shape;178;p37"/>
          <p:cNvPicPr preferRelativeResize="0"/>
          <p:nvPr/>
        </p:nvPicPr>
        <p:blipFill rotWithShape="1">
          <a:blip r:embed="rId3">
            <a:alphaModFix/>
          </a:blip>
          <a:srcRect/>
          <a:stretch/>
        </p:blipFill>
        <p:spPr>
          <a:xfrm>
            <a:off x="1128156" y="823040"/>
            <a:ext cx="6887687" cy="27993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8"/>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Detailed Problem Setup</a:t>
            </a:r>
            <a:endParaRPr/>
          </a:p>
        </p:txBody>
      </p:sp>
      <p:sp>
        <p:nvSpPr>
          <p:cNvPr id="184" name="Google Shape;184;p38"/>
          <p:cNvSpPr txBox="1"/>
          <p:nvPr/>
        </p:nvSpPr>
        <p:spPr>
          <a:xfrm>
            <a:off x="579664" y="816430"/>
            <a:ext cx="7103100" cy="33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Model Architecture:</a:t>
            </a:r>
            <a:endParaRPr sz="1800" b="1">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U-Net diffusion model (DDPM, VP schedule)</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Sinusoidal time embedding + MLP projection</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Label embedding added to time embedding</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Clr>
                <a:schemeClr val="dk1"/>
              </a:buClr>
              <a:buSzPts val="1100"/>
              <a:buFont typeface="Arial"/>
              <a:buNone/>
            </a:pPr>
            <a:r>
              <a:rPr lang="en" sz="1800" b="1">
                <a:solidFill>
                  <a:schemeClr val="dk1"/>
                </a:solidFill>
              </a:rPr>
              <a:t>Network Design:</a:t>
            </a:r>
            <a:endParaRPr sz="1800" b="1">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Encoder: DownBlocks (3 → 128 → 256)</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Bottleneck: ResBlock (256 → 512)</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Decoder: UpBlocks with skip connections</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Output: Conv → RGB image</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~9.5M parameters</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GroupNorm + SiLU activations</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9"/>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Detailed Problem Setup (Cont.)</a:t>
            </a:r>
            <a:endParaRPr/>
          </a:p>
        </p:txBody>
      </p:sp>
      <p:sp>
        <p:nvSpPr>
          <p:cNvPr id="190" name="Google Shape;190;p39"/>
          <p:cNvSpPr txBox="1"/>
          <p:nvPr/>
        </p:nvSpPr>
        <p:spPr>
          <a:xfrm>
            <a:off x="579664" y="816430"/>
            <a:ext cx="7103100" cy="337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rPr>
              <a:t>Memorization Evaluation:</a:t>
            </a:r>
            <a:br>
              <a:rPr lang="en" sz="1800" dirty="0">
                <a:solidFill>
                  <a:schemeClr val="dk1"/>
                </a:solidFill>
              </a:rPr>
            </a:br>
            <a:r>
              <a:rPr lang="en" sz="1800" dirty="0">
                <a:solidFill>
                  <a:schemeClr val="dk1"/>
                </a:solidFill>
              </a:rPr>
              <a:t>Compare generated image to nearest training samples. Compute distance ratio: ratio=d1/d2 where d1 is distance to nearest neighbor and d2 is distance to second nearest neighbor</a:t>
            </a:r>
            <a:endParaRPr sz="1800" dirty="0">
              <a:solidFill>
                <a:schemeClr val="dk1"/>
              </a:solidFill>
            </a:endParaRPr>
          </a:p>
          <a:p>
            <a:pPr marL="0" lvl="0" indent="0" algn="l" rtl="0">
              <a:spcBef>
                <a:spcPts val="0"/>
              </a:spcBef>
              <a:spcAft>
                <a:spcPts val="0"/>
              </a:spcAft>
              <a:buNone/>
            </a:pPr>
            <a:endParaRPr sz="1800" dirty="0">
              <a:solidFill>
                <a:schemeClr val="dk1"/>
              </a:solidFill>
            </a:endParaRPr>
          </a:p>
          <a:p>
            <a:pPr marL="0" lvl="0" indent="0" algn="l" rtl="0">
              <a:lnSpc>
                <a:spcPct val="115000"/>
              </a:lnSpc>
              <a:spcBef>
                <a:spcPts val="0"/>
              </a:spcBef>
              <a:spcAft>
                <a:spcPts val="0"/>
              </a:spcAft>
              <a:buNone/>
            </a:pPr>
            <a:r>
              <a:rPr lang="en" sz="1800" b="1" dirty="0">
                <a:solidFill>
                  <a:schemeClr val="dk1"/>
                </a:solidFill>
              </a:rPr>
              <a:t>Memorization Criterion:</a:t>
            </a:r>
            <a:endParaRPr sz="1800" b="1" dirty="0">
              <a:solidFill>
                <a:schemeClr val="dk1"/>
              </a:solidFill>
            </a:endParaRPr>
          </a:p>
          <a:p>
            <a:pPr marL="0" lvl="0" indent="0" algn="l" rtl="0">
              <a:lnSpc>
                <a:spcPct val="115000"/>
              </a:lnSpc>
              <a:spcBef>
                <a:spcPts val="0"/>
              </a:spcBef>
              <a:spcAft>
                <a:spcPts val="0"/>
              </a:spcAft>
              <a:buNone/>
            </a:pPr>
            <a:r>
              <a:rPr lang="en" sz="1800" dirty="0">
                <a:solidFill>
                  <a:schemeClr val="dk1"/>
                </a:solidFill>
              </a:rPr>
              <a:t>If ratio &lt; threshold (≈ 1/3) → memorized sample</a:t>
            </a:r>
            <a:endParaRPr sz="1800" dirty="0">
              <a:solidFill>
                <a:schemeClr val="dk1"/>
              </a:solidFill>
            </a:endParaRPr>
          </a:p>
          <a:p>
            <a:pPr marL="0" lvl="0" indent="0" algn="l" rtl="0">
              <a:lnSpc>
                <a:spcPct val="115000"/>
              </a:lnSpc>
              <a:spcBef>
                <a:spcPts val="0"/>
              </a:spcBef>
              <a:spcAft>
                <a:spcPts val="0"/>
              </a:spcAft>
              <a:buNone/>
            </a:pPr>
            <a:r>
              <a:rPr lang="en" sz="1800" dirty="0">
                <a:solidFill>
                  <a:schemeClr val="dk1"/>
                </a:solidFill>
              </a:rPr>
              <a:t>otherwise → generalized sample</a:t>
            </a:r>
            <a:endParaRPr sz="1800" dirty="0">
              <a:solidFill>
                <a:schemeClr val="dk1"/>
              </a:solidFill>
            </a:endParaRPr>
          </a:p>
          <a:p>
            <a:pPr marL="0" lvl="0" indent="0" algn="l" rtl="0">
              <a:lnSpc>
                <a:spcPct val="115000"/>
              </a:lnSpc>
              <a:spcBef>
                <a:spcPts val="0"/>
              </a:spcBef>
              <a:spcAft>
                <a:spcPts val="0"/>
              </a:spcAft>
              <a:buNone/>
            </a:pPr>
            <a:endParaRPr sz="18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800" b="1" dirty="0">
                <a:solidFill>
                  <a:schemeClr val="dk1"/>
                </a:solidFill>
              </a:rPr>
              <a:t>Metrics:</a:t>
            </a:r>
            <a:endParaRPr sz="1800" b="1" dirty="0">
              <a:solidFill>
                <a:schemeClr val="dk1"/>
              </a:solidFill>
            </a:endParaRPr>
          </a:p>
          <a:p>
            <a:pPr marL="457200" lvl="0" indent="-342900">
              <a:lnSpc>
                <a:spcPct val="115000"/>
              </a:lnSpc>
              <a:buClr>
                <a:schemeClr val="dk1"/>
              </a:buClr>
              <a:buSzPts val="1800"/>
              <a:buChar char="●"/>
            </a:pPr>
            <a:r>
              <a:rPr lang="en" sz="1800" dirty="0">
                <a:solidFill>
                  <a:schemeClr val="dk1"/>
                </a:solidFill>
              </a:rPr>
              <a:t>Binary memorization rate: f</a:t>
            </a:r>
            <a:r>
              <a:rPr lang="en" sz="1800" dirty="0"/>
              <a:t>raction of memorized images</a:t>
            </a:r>
            <a:endParaRPr sz="1800" dirty="0">
              <a:solidFill>
                <a:schemeClr val="dk1"/>
              </a:solidFill>
            </a:endParaRPr>
          </a:p>
          <a:p>
            <a:pPr marL="457200" lvl="0" indent="-342900">
              <a:lnSpc>
                <a:spcPct val="115000"/>
              </a:lnSpc>
              <a:buClr>
                <a:schemeClr val="dk1"/>
              </a:buClr>
              <a:buSzPts val="1800"/>
              <a:buChar char="●"/>
            </a:pPr>
            <a:r>
              <a:rPr lang="en" sz="1800" dirty="0">
                <a:solidFill>
                  <a:schemeClr val="dk1"/>
                </a:solidFill>
              </a:rPr>
              <a:t>Average ratio: </a:t>
            </a:r>
            <a:r>
              <a:rPr lang="en" sz="1800" dirty="0"/>
              <a:t>average d1/d2 ratio across all generated images</a:t>
            </a:r>
            <a:endParaRPr sz="1800"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0"/>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Detailed Problem Setup (Cont.)</a:t>
            </a:r>
            <a:endParaRPr/>
          </a:p>
        </p:txBody>
      </p:sp>
      <p:sp>
        <p:nvSpPr>
          <p:cNvPr id="196" name="Google Shape;196;p40"/>
          <p:cNvSpPr txBox="1"/>
          <p:nvPr/>
        </p:nvSpPr>
        <p:spPr>
          <a:xfrm>
            <a:off x="579664" y="816430"/>
            <a:ext cx="7103100" cy="337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rPr>
              <a:t>Libraries:</a:t>
            </a:r>
            <a:r>
              <a:rPr lang="en" sz="1800">
                <a:solidFill>
                  <a:schemeClr val="dk1"/>
                </a:solidFill>
              </a:rPr>
              <a:t> PyTorch, torchvision, tqdm, matplotlib, numpy.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b="1">
                <a:solidFill>
                  <a:schemeClr val="dk1"/>
                </a:solidFill>
              </a:rPr>
              <a:t>Hardware:</a:t>
            </a:r>
            <a:r>
              <a:rPr lang="en" sz="1800">
                <a:solidFill>
                  <a:schemeClr val="dk1"/>
                </a:solidFill>
              </a:rPr>
              <a:t> A100 GPU (SOL, Google Colab, Server)</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r>
              <a:rPr lang="en" sz="1800" b="1">
                <a:solidFill>
                  <a:schemeClr val="dk1"/>
                </a:solidFill>
              </a:rPr>
              <a:t>What we changed vs Paper: </a:t>
            </a:r>
            <a:endParaRPr sz="1800" b="1">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No attention layers (simplification vs EDM paper)</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DDPM VP noise schedule vs EDM VE schedule</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MSE loss vs EDM weighted loss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~9.5M vs ~56M params</a:t>
            </a: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 sz="1800">
                <a:solidFill>
                  <a:schemeClr val="dk1"/>
                </a:solidFill>
              </a:rPr>
              <a:t>Different hyperparameters to match our compute setup</a:t>
            </a:r>
            <a:endParaRPr sz="1800">
              <a:solidFill>
                <a:schemeClr val="dk1"/>
              </a:solidFill>
            </a:endParaRPr>
          </a:p>
          <a:p>
            <a:pPr marL="0" lvl="0" indent="0" algn="l" rtl="0">
              <a:spcBef>
                <a:spcPts val="0"/>
              </a:spcBef>
              <a:spcAft>
                <a:spcPts val="0"/>
              </a:spcAft>
              <a:buClr>
                <a:schemeClr val="dk1"/>
              </a:buClr>
              <a:buSzPts val="1100"/>
              <a:buFont typeface="Arial"/>
              <a:buNone/>
            </a:pP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1"/>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Training and Sampling Pipeline</a:t>
            </a:r>
            <a:endParaRPr/>
          </a:p>
        </p:txBody>
      </p:sp>
      <p:sp>
        <p:nvSpPr>
          <p:cNvPr id="202" name="Google Shape;202;p41"/>
          <p:cNvSpPr txBox="1"/>
          <p:nvPr/>
        </p:nvSpPr>
        <p:spPr>
          <a:xfrm>
            <a:off x="311700" y="720000"/>
            <a:ext cx="8520600" cy="4066800"/>
          </a:xfrm>
          <a:prstGeom prst="rect">
            <a:avLst/>
          </a:prstGeom>
          <a:noFill/>
          <a:ln>
            <a:noFill/>
          </a:ln>
        </p:spPr>
        <p:txBody>
          <a:bodyPr spcFirstLastPara="1" wrap="square" lIns="91425" tIns="91425" rIns="91425" bIns="91425" anchor="t" anchorCtr="0">
            <a:noAutofit/>
          </a:bodyPr>
          <a:lstStyle/>
          <a:p>
            <a:pPr marL="285750" lvl="0" indent="-171450" algn="l" rtl="0">
              <a:spcBef>
                <a:spcPts val="0"/>
              </a:spcBef>
              <a:spcAft>
                <a:spcPts val="0"/>
              </a:spcAft>
              <a:buClr>
                <a:schemeClr val="dk1"/>
              </a:buClr>
              <a:buSzPts val="1100"/>
              <a:buFont typeface="Arial"/>
              <a:buNone/>
            </a:pPr>
            <a:r>
              <a:rPr lang="en" sz="1800" b="1">
                <a:solidFill>
                  <a:schemeClr val="dk1"/>
                </a:solidFill>
              </a:rPr>
              <a:t>Training:</a:t>
            </a:r>
            <a:endParaRPr sz="1800" b="1">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marR="0" lvl="0" indent="-171450" algn="l" rtl="0">
              <a:lnSpc>
                <a:spcPct val="100000"/>
              </a:lnSpc>
              <a:spcBef>
                <a:spcPts val="0"/>
              </a:spcBef>
              <a:spcAft>
                <a:spcPts val="0"/>
              </a:spcAft>
              <a:buClr>
                <a:srgbClr val="000000"/>
              </a:buClr>
              <a:buSzPts val="1800"/>
              <a:buFont typeface="Arial"/>
              <a:buNone/>
            </a:pPr>
            <a:endParaRPr sz="1800">
              <a:solidFill>
                <a:schemeClr val="dk1"/>
              </a:solidFill>
            </a:endParaRPr>
          </a:p>
          <a:p>
            <a:pPr marL="285750" lvl="0" indent="-171450" algn="l" rtl="0">
              <a:spcBef>
                <a:spcPts val="0"/>
              </a:spcBef>
              <a:spcAft>
                <a:spcPts val="0"/>
              </a:spcAft>
              <a:buClr>
                <a:schemeClr val="dk1"/>
              </a:buClr>
              <a:buSzPts val="1100"/>
              <a:buFont typeface="Arial"/>
              <a:buNone/>
            </a:pPr>
            <a:r>
              <a:rPr lang="en" sz="1800" b="1">
                <a:solidFill>
                  <a:schemeClr val="dk1"/>
                </a:solidFill>
              </a:rPr>
              <a:t>Sampling:</a:t>
            </a:r>
            <a:endParaRPr sz="1800" b="1">
              <a:solidFill>
                <a:schemeClr val="dk1"/>
              </a:solidFill>
            </a:endParaRPr>
          </a:p>
          <a:p>
            <a:pPr marL="457200" lvl="0" indent="0" algn="l" rtl="0">
              <a:spcBef>
                <a:spcPts val="0"/>
              </a:spcBef>
              <a:spcAft>
                <a:spcPts val="0"/>
              </a:spcAft>
              <a:buNone/>
            </a:pPr>
            <a:endParaRPr sz="1800">
              <a:solidFill>
                <a:schemeClr val="dk1"/>
              </a:solidFill>
            </a:endParaRPr>
          </a:p>
        </p:txBody>
      </p:sp>
      <p:pic>
        <p:nvPicPr>
          <p:cNvPr id="203" name="Google Shape;203;p41"/>
          <p:cNvPicPr preferRelativeResize="0"/>
          <p:nvPr/>
        </p:nvPicPr>
        <p:blipFill>
          <a:blip r:embed="rId3">
            <a:alphaModFix/>
          </a:blip>
          <a:stretch>
            <a:fillRect/>
          </a:stretch>
        </p:blipFill>
        <p:spPr>
          <a:xfrm>
            <a:off x="938612" y="1085197"/>
            <a:ext cx="6700525" cy="2115550"/>
          </a:xfrm>
          <a:prstGeom prst="rect">
            <a:avLst/>
          </a:prstGeom>
          <a:noFill/>
          <a:ln>
            <a:noFill/>
          </a:ln>
        </p:spPr>
      </p:pic>
      <p:pic>
        <p:nvPicPr>
          <p:cNvPr id="4" name="Picture 3">
            <a:extLst>
              <a:ext uri="{FF2B5EF4-FFF2-40B4-BE49-F238E27FC236}">
                <a16:creationId xmlns:a16="http://schemas.microsoft.com/office/drawing/2014/main" id="{52E97333-9623-7CD8-108C-1C8A9F453D1C}"/>
              </a:ext>
            </a:extLst>
          </p:cNvPr>
          <p:cNvPicPr>
            <a:picLocks noChangeAspect="1"/>
          </p:cNvPicPr>
          <p:nvPr/>
        </p:nvPicPr>
        <p:blipFill>
          <a:blip r:embed="rId4"/>
          <a:stretch>
            <a:fillRect/>
          </a:stretch>
        </p:blipFill>
        <p:spPr>
          <a:xfrm>
            <a:off x="747699" y="3839763"/>
            <a:ext cx="7648575" cy="6000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4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000"/>
              <a:buNone/>
            </a:pPr>
            <a:r>
              <a:rPr lang="en"/>
              <a:t>Main Results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3"/>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Experiment Setups</a:t>
            </a:r>
            <a:endParaRPr/>
          </a:p>
        </p:txBody>
      </p:sp>
      <p:sp>
        <p:nvSpPr>
          <p:cNvPr id="215" name="Google Shape;215;p43"/>
          <p:cNvSpPr txBox="1"/>
          <p:nvPr/>
        </p:nvSpPr>
        <p:spPr>
          <a:xfrm>
            <a:off x="501650" y="956375"/>
            <a:ext cx="8010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Subsets drawn without replacement and w</a:t>
            </a:r>
            <a:r>
              <a:rPr lang="en" sz="1600">
                <a:solidFill>
                  <a:schemeClr val="dk1"/>
                </a:solidFill>
              </a:rPr>
              <a:t>ith equal distribution of images from classes</a:t>
            </a:r>
            <a:endParaRPr sz="1600"/>
          </a:p>
        </p:txBody>
      </p:sp>
      <p:sp>
        <p:nvSpPr>
          <p:cNvPr id="216" name="Google Shape;216;p43"/>
          <p:cNvSpPr txBox="1"/>
          <p:nvPr/>
        </p:nvSpPr>
        <p:spPr>
          <a:xfrm>
            <a:off x="7047888" y="1530501"/>
            <a:ext cx="1857300" cy="330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Experiment </a:t>
            </a:r>
            <a:r>
              <a:rPr lang="en" sz="1600" b="1">
                <a:solidFill>
                  <a:schemeClr val="dk1"/>
                </a:solidFill>
              </a:rPr>
              <a:t>D</a:t>
            </a:r>
            <a:r>
              <a:rPr lang="en" sz="1600" b="1" i="0" u="none" strike="noStrike" cap="none">
                <a:solidFill>
                  <a:schemeClr val="dk1"/>
                </a:solidFill>
                <a:latin typeface="Arial"/>
                <a:ea typeface="Arial"/>
                <a:cs typeface="Arial"/>
                <a:sym typeface="Arial"/>
              </a:rPr>
              <a:t>: </a:t>
            </a:r>
            <a:r>
              <a:rPr lang="en" sz="1600"/>
              <a:t>Varying Classes</a:t>
            </a:r>
            <a:endParaRPr sz="1600"/>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a:solidFill>
                  <a:schemeClr val="dk1"/>
                </a:solidFill>
              </a:rPr>
              <a:t>Number of C</a:t>
            </a:r>
            <a:r>
              <a:rPr lang="en" sz="1600" b="0" i="0" u="none" strike="noStrike" cap="none">
                <a:solidFill>
                  <a:schemeClr val="dk1"/>
                </a:solidFill>
                <a:latin typeface="Arial"/>
                <a:ea typeface="Arial"/>
                <a:cs typeface="Arial"/>
                <a:sym typeface="Arial"/>
              </a:rPr>
              <a:t>:</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1</a:t>
            </a:r>
            <a:r>
              <a:rPr lang="en" sz="1600">
                <a:solidFill>
                  <a:schemeClr val="dk1"/>
                </a:solidFill>
              </a:rPr>
              <a:t> C</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a:solidFill>
                  <a:schemeClr val="dk1"/>
                </a:solidFill>
              </a:rPr>
              <a:t>1</a:t>
            </a:r>
            <a:r>
              <a:rPr lang="en" sz="1600" b="0" i="0" u="none" strike="noStrike" cap="none">
                <a:solidFill>
                  <a:schemeClr val="dk1"/>
                </a:solidFill>
                <a:latin typeface="Arial"/>
                <a:ea typeface="Arial"/>
                <a:cs typeface="Arial"/>
                <a:sym typeface="Arial"/>
              </a:rPr>
              <a:t>0</a:t>
            </a:r>
            <a:r>
              <a:rPr lang="en" sz="1600">
                <a:solidFill>
                  <a:schemeClr val="dk1"/>
                </a:solidFill>
              </a:rPr>
              <a:t> C</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a:solidFill>
                  <a:schemeClr val="dk1"/>
                </a:solidFill>
              </a:rPr>
              <a:t>5</a:t>
            </a:r>
            <a:r>
              <a:rPr lang="en" sz="1600" b="0" i="0" u="none" strike="noStrike" cap="none">
                <a:solidFill>
                  <a:schemeClr val="dk1"/>
                </a:solidFill>
                <a:latin typeface="Arial"/>
                <a:ea typeface="Arial"/>
                <a:cs typeface="Arial"/>
                <a:sym typeface="Arial"/>
              </a:rPr>
              <a:t>0</a:t>
            </a:r>
            <a:r>
              <a:rPr lang="en" sz="1600">
                <a:solidFill>
                  <a:schemeClr val="dk1"/>
                </a:solidFill>
              </a:rPr>
              <a:t> C</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a:solidFill>
                  <a:schemeClr val="dk1"/>
                </a:solidFill>
              </a:rPr>
              <a:t>1</a:t>
            </a:r>
            <a:r>
              <a:rPr lang="en" sz="1600" b="0" i="0" u="none" strike="noStrike" cap="none">
                <a:solidFill>
                  <a:schemeClr val="dk1"/>
                </a:solidFill>
                <a:latin typeface="Arial"/>
                <a:ea typeface="Arial"/>
                <a:cs typeface="Arial"/>
                <a:sym typeface="Arial"/>
              </a:rPr>
              <a:t>00</a:t>
            </a:r>
            <a:r>
              <a:rPr lang="en" sz="1600">
                <a:solidFill>
                  <a:schemeClr val="dk1"/>
                </a:solidFill>
              </a:rPr>
              <a:t> C</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500</a:t>
            </a:r>
            <a:r>
              <a:rPr lang="en" sz="1600">
                <a:solidFill>
                  <a:schemeClr val="dk1"/>
                </a:solidFill>
              </a:rPr>
              <a:t> C</a:t>
            </a:r>
            <a:endParaRPr sz="1600">
              <a:solidFill>
                <a:schemeClr val="dk1"/>
              </a:solidFill>
            </a:endParaRPr>
          </a:p>
          <a:p>
            <a:pPr marL="285750" marR="0" lvl="0" indent="-298450" algn="l" rtl="0">
              <a:lnSpc>
                <a:spcPct val="100000"/>
              </a:lnSpc>
              <a:spcBef>
                <a:spcPts val="0"/>
              </a:spcBef>
              <a:spcAft>
                <a:spcPts val="0"/>
              </a:spcAft>
              <a:buClr>
                <a:schemeClr val="dk1"/>
              </a:buClr>
              <a:buSzPts val="1600"/>
              <a:buChar char="•"/>
            </a:pPr>
            <a:r>
              <a:rPr lang="en" sz="1600">
                <a:solidFill>
                  <a:schemeClr val="dk1"/>
                </a:solidFill>
              </a:rPr>
              <a:t>1000 C</a:t>
            </a:r>
            <a:endParaRPr sz="1600">
              <a:solidFill>
                <a:schemeClr val="dk1"/>
              </a:solidFill>
            </a:endParaRPr>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1000 images</a:t>
            </a:r>
            <a:endParaRPr sz="1600"/>
          </a:p>
          <a:p>
            <a:pPr marL="0" marR="0" lvl="0" indent="0" algn="l" rtl="0">
              <a:lnSpc>
                <a:spcPct val="100000"/>
              </a:lnSpc>
              <a:spcBef>
                <a:spcPts val="0"/>
              </a:spcBef>
              <a:spcAft>
                <a:spcPts val="0"/>
              </a:spcAft>
              <a:buNone/>
            </a:pPr>
            <a:r>
              <a:rPr lang="en" sz="1600">
                <a:solidFill>
                  <a:schemeClr val="dk1"/>
                </a:solidFill>
              </a:rPr>
              <a:t>Random</a:t>
            </a:r>
            <a:r>
              <a:rPr lang="en" sz="1600" b="0" i="0" u="none" strike="noStrike" cap="none">
                <a:solidFill>
                  <a:schemeClr val="dk1"/>
                </a:solidFill>
                <a:latin typeface="Arial"/>
                <a:ea typeface="Arial"/>
                <a:cs typeface="Arial"/>
                <a:sym typeface="Arial"/>
              </a:rPr>
              <a:t> labels</a:t>
            </a:r>
            <a:endParaRPr sz="1600"/>
          </a:p>
          <a:p>
            <a:pPr marL="0" marR="0" lvl="0" indent="0" algn="l" rtl="0">
              <a:lnSpc>
                <a:spcPct val="100000"/>
              </a:lnSpc>
              <a:spcBef>
                <a:spcPts val="0"/>
              </a:spcBef>
              <a:spcAft>
                <a:spcPts val="0"/>
              </a:spcAft>
              <a:buNone/>
            </a:pPr>
            <a:endParaRPr sz="1600" b="0" i="0" u="none" strike="noStrike" cap="none">
              <a:solidFill>
                <a:schemeClr val="dk1"/>
              </a:solidFill>
              <a:latin typeface="Arial"/>
              <a:ea typeface="Arial"/>
              <a:cs typeface="Arial"/>
              <a:sym typeface="Arial"/>
            </a:endParaRPr>
          </a:p>
        </p:txBody>
      </p:sp>
      <p:sp>
        <p:nvSpPr>
          <p:cNvPr id="217" name="Google Shape;217;p43"/>
          <p:cNvSpPr txBox="1"/>
          <p:nvPr/>
        </p:nvSpPr>
        <p:spPr>
          <a:xfrm>
            <a:off x="238808" y="1530500"/>
            <a:ext cx="2566500" cy="330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Experiment </a:t>
            </a:r>
            <a:r>
              <a:rPr lang="en" sz="1600" b="1">
                <a:solidFill>
                  <a:schemeClr val="dk1"/>
                </a:solidFill>
              </a:rPr>
              <a:t>A</a:t>
            </a:r>
            <a:r>
              <a:rPr lang="en" sz="1600" b="1" i="0" u="none" strike="noStrike" cap="none">
                <a:solidFill>
                  <a:schemeClr val="dk1"/>
                </a:solidFill>
                <a:latin typeface="Arial"/>
                <a:ea typeface="Arial"/>
                <a:cs typeface="Arial"/>
                <a:sym typeface="Arial"/>
              </a:rPr>
              <a:t>: </a:t>
            </a:r>
            <a:r>
              <a:rPr lang="en" sz="1600" b="0" i="0" u="none" strike="noStrike" cap="none">
                <a:solidFill>
                  <a:schemeClr val="dk1"/>
                </a:solidFill>
                <a:latin typeface="Arial"/>
                <a:ea typeface="Arial"/>
                <a:cs typeface="Arial"/>
                <a:sym typeface="Arial"/>
              </a:rPr>
              <a:t>Conditioning</a:t>
            </a:r>
            <a:endParaRPr sz="1600"/>
          </a:p>
          <a:p>
            <a:pPr marL="285750" marR="0" lvl="0" indent="-196850" algn="l" rtl="0">
              <a:lnSpc>
                <a:spcPct val="100000"/>
              </a:lnSpc>
              <a:spcBef>
                <a:spcPts val="0"/>
              </a:spcBef>
              <a:spcAft>
                <a:spcPts val="0"/>
              </a:spcAft>
              <a:buClr>
                <a:srgbClr val="000000"/>
              </a:buClr>
              <a:buSzPts val="1400"/>
              <a:buFont typeface="Arial"/>
              <a:buNone/>
            </a:pP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Labels types:</a:t>
            </a:r>
            <a:endParaRPr sz="1600" b="1" i="0" u="none" strike="noStrike" cap="none">
              <a:solidFill>
                <a:schemeClr val="dk1"/>
              </a:solidFill>
              <a:latin typeface="Arial"/>
              <a:ea typeface="Arial"/>
              <a:cs typeface="Arial"/>
              <a:sym typeface="Arial"/>
            </a:endParaRPr>
          </a:p>
          <a:p>
            <a:pPr marL="285750" marR="0" lvl="0" indent="-298450" algn="l" rtl="0">
              <a:lnSpc>
                <a:spcPct val="100000"/>
              </a:lnSpc>
              <a:spcBef>
                <a:spcPts val="0"/>
              </a:spcBef>
              <a:spcAft>
                <a:spcPts val="0"/>
              </a:spcAft>
              <a:buClr>
                <a:srgbClr val="000000"/>
              </a:buClr>
              <a:buSzPts val="1600"/>
              <a:buFont typeface="Arial"/>
              <a:buChar char="•"/>
            </a:pPr>
            <a:r>
              <a:rPr lang="en" sz="1600">
                <a:solidFill>
                  <a:schemeClr val="dk1"/>
                </a:solidFill>
              </a:rPr>
              <a:t>Unconditioned: no labels</a:t>
            </a:r>
            <a:endParaRPr sz="1600">
              <a:solidFill>
                <a:schemeClr val="dk1"/>
              </a:solidFill>
            </a:endParaRPr>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Normal: </a:t>
            </a:r>
            <a:r>
              <a:rPr lang="en" sz="1600" b="0" i="0" u="none" strike="noStrike" cap="none">
                <a:solidFill>
                  <a:srgbClr val="000000"/>
                </a:solidFill>
                <a:latin typeface="Arial"/>
                <a:ea typeface="Arial"/>
                <a:cs typeface="Arial"/>
                <a:sym typeface="Arial"/>
              </a:rPr>
              <a:t>true class 0–9</a:t>
            </a:r>
            <a:endParaRPr sz="1600" b="0" i="0" u="none" strike="noStrike" cap="none">
              <a:solidFill>
                <a:schemeClr val="dk1"/>
              </a:solidFill>
              <a:latin typeface="Arial"/>
              <a:ea typeface="Arial"/>
              <a:cs typeface="Arial"/>
              <a:sym typeface="Arial"/>
            </a:endParaRPr>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Random: </a:t>
            </a:r>
            <a:r>
              <a:rPr lang="en" sz="1600" b="0" i="0" u="none" strike="noStrike" cap="none">
                <a:solidFill>
                  <a:srgbClr val="000000"/>
                </a:solidFill>
                <a:latin typeface="Arial"/>
                <a:ea typeface="Arial"/>
                <a:cs typeface="Arial"/>
                <a:sym typeface="Arial"/>
              </a:rPr>
              <a:t>shuffled 0–9 </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Unique: </a:t>
            </a:r>
            <a:r>
              <a:rPr lang="en" sz="1600" b="0" i="0" u="none" strike="noStrike" cap="none">
                <a:solidFill>
                  <a:srgbClr val="000000"/>
                </a:solidFill>
                <a:latin typeface="Arial"/>
                <a:ea typeface="Arial"/>
                <a:cs typeface="Arial"/>
                <a:sym typeface="Arial"/>
              </a:rPr>
              <a:t>index 0 to N-1</a:t>
            </a:r>
            <a:endParaRPr sz="1600"/>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Same 1000 images with different labels</a:t>
            </a:r>
            <a:endParaRPr sz="1600"/>
          </a:p>
        </p:txBody>
      </p:sp>
      <p:sp>
        <p:nvSpPr>
          <p:cNvPr id="218" name="Google Shape;218;p43"/>
          <p:cNvSpPr txBox="1"/>
          <p:nvPr/>
        </p:nvSpPr>
        <p:spPr>
          <a:xfrm>
            <a:off x="5077275" y="1530501"/>
            <a:ext cx="1857300" cy="330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Experiment </a:t>
            </a:r>
            <a:r>
              <a:rPr lang="en" sz="1600" b="1">
                <a:solidFill>
                  <a:schemeClr val="dk1"/>
                </a:solidFill>
              </a:rPr>
              <a:t>C</a:t>
            </a:r>
            <a:r>
              <a:rPr lang="en" sz="1600" b="1" i="0" u="none" strike="noStrike" cap="none">
                <a:solidFill>
                  <a:schemeClr val="dk1"/>
                </a:solidFill>
                <a:latin typeface="Arial"/>
                <a:ea typeface="Arial"/>
                <a:cs typeface="Arial"/>
                <a:sym typeface="Arial"/>
              </a:rPr>
              <a:t>: </a:t>
            </a:r>
            <a:r>
              <a:rPr lang="en" sz="1600" b="0" i="0" u="none" strike="noStrike" cap="none">
                <a:solidFill>
                  <a:srgbClr val="000000"/>
                </a:solidFill>
                <a:latin typeface="Arial"/>
                <a:ea typeface="Arial"/>
                <a:cs typeface="Arial"/>
                <a:sym typeface="Arial"/>
              </a:rPr>
              <a:t>Training Time</a:t>
            </a:r>
            <a:endParaRPr sz="1600"/>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Checkpoints: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1000 epochs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2000 epochs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3000 epochs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4000 epochs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5000 epochs</a:t>
            </a:r>
            <a:endParaRPr sz="1600"/>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1000 images</a:t>
            </a:r>
            <a:endParaRPr sz="1600"/>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Unique labels</a:t>
            </a:r>
            <a:endParaRPr sz="1600"/>
          </a:p>
          <a:p>
            <a:pPr marL="0" marR="0" lvl="0" indent="0" algn="l" rtl="0">
              <a:lnSpc>
                <a:spcPct val="100000"/>
              </a:lnSpc>
              <a:spcBef>
                <a:spcPts val="0"/>
              </a:spcBef>
              <a:spcAft>
                <a:spcPts val="0"/>
              </a:spcAft>
              <a:buNone/>
            </a:pPr>
            <a:endParaRPr sz="1600" b="0" i="0" u="none" strike="noStrike" cap="none">
              <a:solidFill>
                <a:schemeClr val="dk1"/>
              </a:solidFill>
              <a:latin typeface="Arial"/>
              <a:ea typeface="Arial"/>
              <a:cs typeface="Arial"/>
              <a:sym typeface="Arial"/>
            </a:endParaRPr>
          </a:p>
        </p:txBody>
      </p:sp>
      <p:sp>
        <p:nvSpPr>
          <p:cNvPr id="219" name="Google Shape;219;p43"/>
          <p:cNvSpPr txBox="1"/>
          <p:nvPr/>
        </p:nvSpPr>
        <p:spPr>
          <a:xfrm>
            <a:off x="3004025" y="1530501"/>
            <a:ext cx="1857300" cy="3305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Experiment </a:t>
            </a:r>
            <a:r>
              <a:rPr lang="en" sz="1600" b="1">
                <a:solidFill>
                  <a:schemeClr val="dk1"/>
                </a:solidFill>
              </a:rPr>
              <a:t>B</a:t>
            </a:r>
            <a:r>
              <a:rPr lang="en" sz="1600" b="1" i="0" u="none" strike="noStrike" cap="none">
                <a:solidFill>
                  <a:schemeClr val="dk1"/>
                </a:solidFill>
                <a:latin typeface="Arial"/>
                <a:ea typeface="Arial"/>
                <a:cs typeface="Arial"/>
                <a:sym typeface="Arial"/>
              </a:rPr>
              <a:t>:</a:t>
            </a:r>
            <a:r>
              <a:rPr lang="en" sz="1600" b="0" i="0" u="none" strike="noStrike" cap="none">
                <a:solidFill>
                  <a:schemeClr val="dk1"/>
                </a:solidFill>
                <a:latin typeface="Arial"/>
                <a:ea typeface="Arial"/>
                <a:cs typeface="Arial"/>
                <a:sym typeface="Arial"/>
              </a:rPr>
              <a:t> Dataset Size</a:t>
            </a:r>
            <a:endParaRPr sz="1600"/>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Sizes: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50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100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250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500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1000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2000 images</a:t>
            </a:r>
            <a:endParaRPr sz="1600"/>
          </a:p>
          <a:p>
            <a:pPr marL="285750" marR="0" lvl="0" indent="-298450" algn="l" rtl="0">
              <a:lnSpc>
                <a:spcPct val="100000"/>
              </a:lnSpc>
              <a:spcBef>
                <a:spcPts val="0"/>
              </a:spcBef>
              <a:spcAft>
                <a:spcPts val="0"/>
              </a:spcAft>
              <a:buClr>
                <a:srgbClr val="000000"/>
              </a:buClr>
              <a:buSzPts val="1600"/>
              <a:buFont typeface="Arial"/>
              <a:buChar char="•"/>
            </a:pPr>
            <a:r>
              <a:rPr lang="en" sz="1600" b="0" i="0" u="none" strike="noStrike" cap="none">
                <a:solidFill>
                  <a:schemeClr val="dk1"/>
                </a:solidFill>
                <a:latin typeface="Arial"/>
                <a:ea typeface="Arial"/>
                <a:cs typeface="Arial"/>
                <a:sym typeface="Arial"/>
              </a:rPr>
              <a:t>5000 images</a:t>
            </a:r>
            <a:endParaRPr sz="1600" b="0" i="0" u="none" strike="noStrike" cap="none">
              <a:solidFill>
                <a:schemeClr val="dk1"/>
              </a:solidFill>
              <a:latin typeface="Arial"/>
              <a:ea typeface="Arial"/>
              <a:cs typeface="Arial"/>
              <a:sym typeface="Arial"/>
            </a:endParaRPr>
          </a:p>
          <a:p>
            <a:pPr marL="285750" marR="0" lvl="0" indent="-298450" algn="l" rtl="0">
              <a:lnSpc>
                <a:spcPct val="100000"/>
              </a:lnSpc>
              <a:spcBef>
                <a:spcPts val="0"/>
              </a:spcBef>
              <a:spcAft>
                <a:spcPts val="0"/>
              </a:spcAft>
              <a:buClr>
                <a:schemeClr val="dk1"/>
              </a:buClr>
              <a:buSzPts val="1600"/>
              <a:buChar char="•"/>
            </a:pPr>
            <a:r>
              <a:rPr lang="en" sz="1600">
                <a:solidFill>
                  <a:schemeClr val="dk1"/>
                </a:solidFill>
              </a:rPr>
              <a:t>10000 images</a:t>
            </a:r>
            <a:endParaRPr sz="1600">
              <a:solidFill>
                <a:schemeClr val="dk1"/>
              </a:solidFill>
            </a:endParaRPr>
          </a:p>
          <a:p>
            <a:pPr marL="285750" marR="0" lvl="0" indent="-196850" algn="l" rtl="0">
              <a:lnSpc>
                <a:spcPct val="100000"/>
              </a:lnSpc>
              <a:spcBef>
                <a:spcPts val="0"/>
              </a:spcBef>
              <a:spcAft>
                <a:spcPts val="0"/>
              </a:spcAft>
              <a:buClr>
                <a:srgbClr val="000000"/>
              </a:buClr>
              <a:buSzPts val="14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Unique labels</a:t>
            </a:r>
            <a:endParaRPr sz="1600" b="0" i="0" u="none" strike="noStrike" cap="none">
              <a:solidFill>
                <a:schemeClr val="dk1"/>
              </a:solidFill>
              <a:latin typeface="Arial"/>
              <a:ea typeface="Arial"/>
              <a:cs typeface="Arial"/>
              <a:sym typeface="Arial"/>
            </a:endParaRPr>
          </a:p>
        </p:txBody>
      </p:sp>
      <p:cxnSp>
        <p:nvCxnSpPr>
          <p:cNvPr id="220" name="Google Shape;220;p43"/>
          <p:cNvCxnSpPr/>
          <p:nvPr/>
        </p:nvCxnSpPr>
        <p:spPr>
          <a:xfrm>
            <a:off x="2901363" y="1530500"/>
            <a:ext cx="0" cy="3755100"/>
          </a:xfrm>
          <a:prstGeom prst="straightConnector1">
            <a:avLst/>
          </a:prstGeom>
          <a:noFill/>
          <a:ln w="9525" cap="flat" cmpd="sng">
            <a:solidFill>
              <a:schemeClr val="dk2"/>
            </a:solidFill>
            <a:prstDash val="solid"/>
            <a:round/>
            <a:headEnd type="none" w="med" len="med"/>
            <a:tailEnd type="none" w="med" len="med"/>
          </a:ln>
        </p:spPr>
      </p:cxnSp>
      <p:cxnSp>
        <p:nvCxnSpPr>
          <p:cNvPr id="221" name="Google Shape;221;p43"/>
          <p:cNvCxnSpPr/>
          <p:nvPr/>
        </p:nvCxnSpPr>
        <p:spPr>
          <a:xfrm>
            <a:off x="4963975" y="1530500"/>
            <a:ext cx="0" cy="3755100"/>
          </a:xfrm>
          <a:prstGeom prst="straightConnector1">
            <a:avLst/>
          </a:prstGeom>
          <a:noFill/>
          <a:ln w="9525" cap="flat" cmpd="sng">
            <a:solidFill>
              <a:schemeClr val="dk2"/>
            </a:solidFill>
            <a:prstDash val="solid"/>
            <a:round/>
            <a:headEnd type="none" w="med" len="med"/>
            <a:tailEnd type="none" w="med" len="med"/>
          </a:ln>
        </p:spPr>
      </p:cxnSp>
      <p:cxnSp>
        <p:nvCxnSpPr>
          <p:cNvPr id="222" name="Google Shape;222;p43"/>
          <p:cNvCxnSpPr/>
          <p:nvPr/>
        </p:nvCxnSpPr>
        <p:spPr>
          <a:xfrm>
            <a:off x="6909250" y="1530500"/>
            <a:ext cx="0" cy="37551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4"/>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Hyperparameters and Ranges</a:t>
            </a:r>
            <a:endParaRPr/>
          </a:p>
        </p:txBody>
      </p:sp>
      <p:graphicFrame>
        <p:nvGraphicFramePr>
          <p:cNvPr id="228" name="Google Shape;228;p44"/>
          <p:cNvGraphicFramePr/>
          <p:nvPr/>
        </p:nvGraphicFramePr>
        <p:xfrm>
          <a:off x="952500" y="751975"/>
          <a:ext cx="7239000" cy="3723690"/>
        </p:xfrm>
        <a:graphic>
          <a:graphicData uri="http://schemas.openxmlformats.org/drawingml/2006/table">
            <a:tbl>
              <a:tblPr>
                <a:noFill/>
                <a:tableStyleId>{71B6421E-6283-4F46-B845-24750E2CF080}</a:tableStyleId>
              </a:tblPr>
              <a:tblGrid>
                <a:gridCol w="1563475">
                  <a:extLst>
                    <a:ext uri="{9D8B030D-6E8A-4147-A177-3AD203B41FA5}">
                      <a16:colId xmlns:a16="http://schemas.microsoft.com/office/drawing/2014/main" val="20000"/>
                    </a:ext>
                  </a:extLst>
                </a:gridCol>
                <a:gridCol w="2056025">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None/>
                      </a:pPr>
                      <a:r>
                        <a:rPr lang="en" sz="1400" b="1" u="none" strike="noStrike" cap="none"/>
                        <a:t>Parameter</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Value</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Description</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Why This Value?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None/>
                      </a:pPr>
                      <a:r>
                        <a:rPr lang="en" sz="1400" u="none" strike="noStrike" cap="none"/>
                        <a:t>T (timesteps)</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t>500</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t>Number of diffusion steps in noise schedule</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t>Reduced from paper's T=1000, giving better training coverage within our epoch budget</a:t>
                      </a:r>
                      <a:endParaRPr/>
                    </a:p>
                  </a:txBody>
                  <a:tcPr marL="91450" marR="91450" marT="45725" marB="45725">
                    <a:solidFill>
                      <a:srgbClr val="B6D7A8"/>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n" sz="1400" u="none" strike="noStrike" cap="none">
                          <a:solidFill>
                            <a:schemeClr val="dk1"/>
                          </a:solidFill>
                        </a:rPr>
                        <a:t>Epochs</a:t>
                      </a:r>
                      <a:endParaRPr>
                        <a:solidFill>
                          <a:schemeClr val="dk1"/>
                        </a:solidFill>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solidFill>
                            <a:schemeClr val="dk1"/>
                          </a:solidFill>
                        </a:rPr>
                        <a:t>5000</a:t>
                      </a:r>
                      <a:endParaRPr>
                        <a:solidFill>
                          <a:schemeClr val="dk1"/>
                        </a:solidFill>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solidFill>
                            <a:schemeClr val="dk1"/>
                          </a:solidFill>
                        </a:rPr>
                        <a:t>Training epochs per experiment</a:t>
                      </a:r>
                      <a:endParaRPr>
                        <a:solidFill>
                          <a:schemeClr val="dk1"/>
                        </a:solidFill>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solidFill>
                            <a:schemeClr val="dk1"/>
                          </a:solidFill>
                        </a:rPr>
                        <a:t>Reduced from paper’s 40K epochs to maintain a reasonable computation time</a:t>
                      </a:r>
                      <a:endParaRPr>
                        <a:solidFill>
                          <a:schemeClr val="dk1"/>
                        </a:solidFill>
                      </a:endParaRPr>
                    </a:p>
                  </a:txBody>
                  <a:tcPr marL="91450" marR="91450" marT="45725" marB="45725">
                    <a:solidFill>
                      <a:srgbClr val="B6D7A8"/>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n" sz="1400" u="none" strike="noStrike" cap="none"/>
                        <a:t>Batch size</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min(256, |D|)</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Images per gradient step</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Matches paper baseline</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n" sz="1400" u="none" strike="noStrike" cap="none"/>
                        <a:t>Learning rate</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2e-4</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Adam optimizer lr</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Matches paper baseline</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5"/>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Hyperparameters and Ranges (Cont.)</a:t>
            </a:r>
            <a:endParaRPr/>
          </a:p>
        </p:txBody>
      </p:sp>
      <p:graphicFrame>
        <p:nvGraphicFramePr>
          <p:cNvPr id="234" name="Google Shape;234;p45"/>
          <p:cNvGraphicFramePr/>
          <p:nvPr/>
        </p:nvGraphicFramePr>
        <p:xfrm>
          <a:off x="952500" y="751975"/>
          <a:ext cx="7239000" cy="3083610"/>
        </p:xfrm>
        <a:graphic>
          <a:graphicData uri="http://schemas.openxmlformats.org/drawingml/2006/table">
            <a:tbl>
              <a:tblPr>
                <a:noFill/>
                <a:tableStyleId>{71B6421E-6283-4F46-B845-24750E2CF080}</a:tableStyleId>
              </a:tblPr>
              <a:tblGrid>
                <a:gridCol w="1563475">
                  <a:extLst>
                    <a:ext uri="{9D8B030D-6E8A-4147-A177-3AD203B41FA5}">
                      <a16:colId xmlns:a16="http://schemas.microsoft.com/office/drawing/2014/main" val="20000"/>
                    </a:ext>
                  </a:extLst>
                </a:gridCol>
                <a:gridCol w="2056025">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None/>
                      </a:pPr>
                      <a:r>
                        <a:rPr lang="en" sz="1400" b="1" u="none" strike="noStrike" cap="none"/>
                        <a:t>Parameter</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Value</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Description</a:t>
                      </a:r>
                      <a:endParaRPr/>
                    </a:p>
                  </a:txBody>
                  <a:tcPr marL="91450" marR="91450" marT="45725" marB="45725"/>
                </a:tc>
                <a:tc>
                  <a:txBody>
                    <a:bodyPr/>
                    <a:lstStyle/>
                    <a:p>
                      <a:pPr marL="0" marR="0" lvl="0" indent="0" algn="l" rtl="0">
                        <a:lnSpc>
                          <a:spcPct val="100000"/>
                        </a:lnSpc>
                        <a:spcBef>
                          <a:spcPts val="0"/>
                        </a:spcBef>
                        <a:spcAft>
                          <a:spcPts val="0"/>
                        </a:spcAft>
                        <a:buNone/>
                      </a:pPr>
                      <a:r>
                        <a:rPr lang="en" sz="1400" b="1" u="none" strike="noStrike" cap="none"/>
                        <a:t>Why This Value?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None/>
                      </a:pPr>
                      <a:r>
                        <a:rPr lang="en" sz="1400" u="none" strike="noStrike" cap="none"/>
                        <a:t>Base channels</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128</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U-Net channel width multiplier</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Matches paper baseline</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n"/>
                        <a:t>Seed</a:t>
                      </a:r>
                      <a:endParaRPr/>
                    </a:p>
                  </a:txBody>
                  <a:tcPr marL="91450" marR="91450" marT="45725" marB="45725"/>
                </a:tc>
                <a:tc>
                  <a:txBody>
                    <a:bodyPr/>
                    <a:lstStyle/>
                    <a:p>
                      <a:pPr marL="0" marR="0" lvl="0" indent="0" algn="l" rtl="0">
                        <a:lnSpc>
                          <a:spcPct val="100000"/>
                        </a:lnSpc>
                        <a:spcBef>
                          <a:spcPts val="0"/>
                        </a:spcBef>
                        <a:spcAft>
                          <a:spcPts val="0"/>
                        </a:spcAft>
                        <a:buNone/>
                      </a:pPr>
                      <a:r>
                        <a:rPr lang="en"/>
                        <a:t>42</a:t>
                      </a:r>
                      <a:endParaRPr/>
                    </a:p>
                  </a:txBody>
                  <a:tcPr marL="91450" marR="91450" marT="45725" marB="45725"/>
                </a:tc>
                <a:tc>
                  <a:txBody>
                    <a:bodyPr/>
                    <a:lstStyle/>
                    <a:p>
                      <a:pPr marL="0" marR="0" lvl="0" indent="0" algn="l" rtl="0">
                        <a:lnSpc>
                          <a:spcPct val="100000"/>
                        </a:lnSpc>
                        <a:spcBef>
                          <a:spcPts val="0"/>
                        </a:spcBef>
                        <a:spcAft>
                          <a:spcPts val="0"/>
                        </a:spcAft>
                        <a:buNone/>
                      </a:pPr>
                      <a:r>
                        <a:rPr lang="en"/>
                        <a:t>Random seed for dataset sampling reproducibility</a:t>
                      </a:r>
                      <a:endParaRPr/>
                    </a:p>
                  </a:txBody>
                  <a:tcPr marL="91450" marR="91450" marT="45725" marB="45725"/>
                </a:tc>
                <a:tc>
                  <a:txBody>
                    <a:bodyPr/>
                    <a:lstStyle/>
                    <a:p>
                      <a:pPr marL="0" marR="0" lvl="0" indent="0" algn="l" rtl="0">
                        <a:lnSpc>
                          <a:spcPct val="100000"/>
                        </a:lnSpc>
                        <a:spcBef>
                          <a:spcPts val="0"/>
                        </a:spcBef>
                        <a:spcAft>
                          <a:spcPts val="0"/>
                        </a:spcAft>
                        <a:buNone/>
                      </a:pPr>
                      <a:r>
                        <a:rPr lang="en"/>
                        <a:t>Chosen at random </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n" sz="1400" u="none" strike="noStrike" cap="none"/>
                        <a:t>Memorization threshold</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1/3</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d1/d2 ratio cutoff for binary metric</a:t>
                      </a:r>
                      <a:endParaRPr/>
                    </a:p>
                  </a:txBody>
                  <a:tcPr marL="91450" marR="91450" marT="45725" marB="45725"/>
                </a:tc>
                <a:tc>
                  <a:txBody>
                    <a:bodyPr/>
                    <a:lstStyle/>
                    <a:p>
                      <a:pPr marL="0" marR="0" lvl="0" indent="0" algn="l" rtl="0">
                        <a:lnSpc>
                          <a:spcPct val="100000"/>
                        </a:lnSpc>
                        <a:spcBef>
                          <a:spcPts val="0"/>
                        </a:spcBef>
                        <a:spcAft>
                          <a:spcPts val="0"/>
                        </a:spcAft>
                        <a:buNone/>
                      </a:pPr>
                      <a:r>
                        <a:rPr lang="en" sz="1400" u="none" strike="noStrike" cap="none"/>
                        <a:t>Matches paper baseline</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n" sz="1400" u="none" strike="noStrike" cap="none"/>
                        <a:t>num_generated</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a:t>20</a:t>
                      </a:r>
                      <a:r>
                        <a:rPr lang="en" sz="1400" u="none" strike="noStrike" cap="none"/>
                        <a:t>00</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sz="1400" u="none" strike="noStrike" cap="none"/>
                        <a:t>Images generated per evaluation</a:t>
                      </a:r>
                      <a:endParaRPr/>
                    </a:p>
                  </a:txBody>
                  <a:tcPr marL="91450" marR="91450" marT="45725" marB="45725">
                    <a:solidFill>
                      <a:srgbClr val="B6D7A8"/>
                    </a:solidFill>
                  </a:tcPr>
                </a:tc>
                <a:tc>
                  <a:txBody>
                    <a:bodyPr/>
                    <a:lstStyle/>
                    <a:p>
                      <a:pPr marL="0" marR="0" lvl="0" indent="0" algn="l" rtl="0">
                        <a:lnSpc>
                          <a:spcPct val="100000"/>
                        </a:lnSpc>
                        <a:spcBef>
                          <a:spcPts val="0"/>
                        </a:spcBef>
                        <a:spcAft>
                          <a:spcPts val="0"/>
                        </a:spcAft>
                        <a:buNone/>
                      </a:pPr>
                      <a:r>
                        <a:rPr lang="en"/>
                        <a:t>2k</a:t>
                      </a:r>
                      <a:r>
                        <a:rPr lang="en" sz="1400" u="none" strike="noStrike" cap="none"/>
                        <a:t> sufficient to show trend with lower compute; paper uses 10k</a:t>
                      </a:r>
                      <a:endParaRPr/>
                    </a:p>
                  </a:txBody>
                  <a:tcPr marL="91450" marR="91450" marT="45725" marB="45725">
                    <a:solidFill>
                      <a:srgbClr val="B6D7A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6"/>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Discussion of Results - Experiment A</a:t>
            </a:r>
            <a:endParaRPr/>
          </a:p>
        </p:txBody>
      </p:sp>
      <p:sp>
        <p:nvSpPr>
          <p:cNvPr id="240" name="Google Shape;240;p46"/>
          <p:cNvSpPr txBox="1">
            <a:spLocks noGrp="1"/>
          </p:cNvSpPr>
          <p:nvPr>
            <p:ph type="body" idx="1"/>
          </p:nvPr>
        </p:nvSpPr>
        <p:spPr>
          <a:xfrm>
            <a:off x="311700" y="1152475"/>
            <a:ext cx="5290800" cy="3674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500" b="1"/>
              <a:t>How does conditioning affect memorization?</a:t>
            </a:r>
            <a:endParaRPr sz="1500"/>
          </a:p>
          <a:p>
            <a:pPr marL="457200" lvl="0" indent="-323850" algn="l" rtl="0">
              <a:lnSpc>
                <a:spcPct val="100000"/>
              </a:lnSpc>
              <a:spcBef>
                <a:spcPts val="0"/>
              </a:spcBef>
              <a:spcAft>
                <a:spcPts val="0"/>
              </a:spcAft>
              <a:buSzPts val="1500"/>
              <a:buChar char="●"/>
            </a:pPr>
            <a:r>
              <a:rPr lang="en" sz="1500"/>
              <a:t>Uncond / Normal / Random → ~0% memorization</a:t>
            </a:r>
            <a:endParaRPr sz="1500"/>
          </a:p>
          <a:p>
            <a:pPr marL="457200" lvl="0" indent="-323850" algn="l" rtl="0">
              <a:lnSpc>
                <a:spcPct val="100000"/>
              </a:lnSpc>
              <a:spcBef>
                <a:spcPts val="0"/>
              </a:spcBef>
              <a:spcAft>
                <a:spcPts val="0"/>
              </a:spcAft>
              <a:buSzPts val="1500"/>
              <a:buChar char="●"/>
            </a:pPr>
            <a:r>
              <a:rPr lang="en" sz="1500"/>
              <a:t>Unique labels → 99.4% memorization</a:t>
            </a:r>
            <a:endParaRPr sz="1500"/>
          </a:p>
          <a:p>
            <a:pPr marL="457200" lvl="0" indent="0" algn="l" rtl="0">
              <a:lnSpc>
                <a:spcPct val="100000"/>
              </a:lnSpc>
              <a:spcBef>
                <a:spcPts val="0"/>
              </a:spcBef>
              <a:spcAft>
                <a:spcPts val="0"/>
              </a:spcAft>
              <a:buNone/>
            </a:pPr>
            <a:r>
              <a:rPr lang="en" sz="1500"/>
              <a:t>Forces the model to associate one label with one image</a:t>
            </a:r>
            <a:endParaRPr sz="1500"/>
          </a:p>
          <a:p>
            <a:pPr marL="457200" lvl="0" indent="-323850" algn="l" rtl="0">
              <a:lnSpc>
                <a:spcPct val="100000"/>
              </a:lnSpc>
              <a:spcBef>
                <a:spcPts val="0"/>
              </a:spcBef>
              <a:spcAft>
                <a:spcPts val="0"/>
              </a:spcAft>
              <a:buSzPts val="1500"/>
              <a:buChar char="●"/>
            </a:pPr>
            <a:r>
              <a:rPr lang="en" sz="1500"/>
              <a:t>Normal vs Random → essentially identical results Confirms that label meaning does not matter, only label specificity does</a:t>
            </a:r>
            <a:endParaRPr sz="1500"/>
          </a:p>
          <a:p>
            <a:pPr marL="0" lvl="0" indent="0" algn="l" rtl="0">
              <a:lnSpc>
                <a:spcPct val="100000"/>
              </a:lnSpc>
              <a:spcBef>
                <a:spcPts val="0"/>
              </a:spcBef>
              <a:spcAft>
                <a:spcPts val="0"/>
              </a:spcAft>
              <a:buNone/>
            </a:pPr>
            <a:endParaRPr sz="1500"/>
          </a:p>
          <a:p>
            <a:pPr marL="0" lvl="0" indent="0" algn="l" rtl="0">
              <a:lnSpc>
                <a:spcPct val="100000"/>
              </a:lnSpc>
              <a:spcBef>
                <a:spcPts val="0"/>
              </a:spcBef>
              <a:spcAft>
                <a:spcPts val="0"/>
              </a:spcAft>
              <a:buNone/>
            </a:pPr>
            <a:r>
              <a:rPr lang="en" sz="1500" i="1"/>
              <a:t>Conditioning type is the strongest single driver of memorization. Unique labels alone push a generalizing model to near-perfect memorization on the same dataset</a:t>
            </a:r>
            <a:endParaRPr sz="1500" i="1"/>
          </a:p>
        </p:txBody>
      </p:sp>
      <p:graphicFrame>
        <p:nvGraphicFramePr>
          <p:cNvPr id="241" name="Google Shape;241;p46"/>
          <p:cNvGraphicFramePr/>
          <p:nvPr/>
        </p:nvGraphicFramePr>
        <p:xfrm>
          <a:off x="5701049" y="2303855"/>
          <a:ext cx="3036450" cy="1371650"/>
        </p:xfrm>
        <a:graphic>
          <a:graphicData uri="http://schemas.openxmlformats.org/drawingml/2006/table">
            <a:tbl>
              <a:tblPr firstRow="1" bandRow="1">
                <a:noFill/>
                <a:tableStyleId>{71B6421E-6283-4F46-B845-24750E2CF080}</a:tableStyleId>
              </a:tblPr>
              <a:tblGrid>
                <a:gridCol w="1459525">
                  <a:extLst>
                    <a:ext uri="{9D8B030D-6E8A-4147-A177-3AD203B41FA5}">
                      <a16:colId xmlns:a16="http://schemas.microsoft.com/office/drawing/2014/main" val="20000"/>
                    </a:ext>
                  </a:extLst>
                </a:gridCol>
                <a:gridCol w="668575">
                  <a:extLst>
                    <a:ext uri="{9D8B030D-6E8A-4147-A177-3AD203B41FA5}">
                      <a16:colId xmlns:a16="http://schemas.microsoft.com/office/drawing/2014/main" val="20001"/>
                    </a:ext>
                  </a:extLst>
                </a:gridCol>
                <a:gridCol w="908350">
                  <a:extLst>
                    <a:ext uri="{9D8B030D-6E8A-4147-A177-3AD203B41FA5}">
                      <a16:colId xmlns:a16="http://schemas.microsoft.com/office/drawing/2014/main" val="20002"/>
                    </a:ext>
                  </a:extLst>
                </a:gridCol>
              </a:tblGrid>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Type</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Binary</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Avg Ratio</a:t>
                      </a:r>
                      <a:endParaRPr sz="1200"/>
                    </a:p>
                  </a:txBody>
                  <a:tcPr marL="91450" marR="91450" marT="45725" marB="45725" anchor="ctr"/>
                </a:tc>
                <a:extLst>
                  <a:ext uri="{0D108BD9-81ED-4DB2-BD59-A6C34878D82A}">
                    <a16:rowId xmlns:a16="http://schemas.microsoft.com/office/drawing/2014/main" val="10000"/>
                  </a:ext>
                </a:extLst>
              </a:tr>
              <a:tr h="127000">
                <a:tc>
                  <a:txBody>
                    <a:bodyPr/>
                    <a:lstStyle/>
                    <a:p>
                      <a:pPr marL="0" marR="0" lvl="0" indent="0" algn="l" rtl="0">
                        <a:lnSpc>
                          <a:spcPct val="100000"/>
                        </a:lnSpc>
                        <a:spcBef>
                          <a:spcPts val="0"/>
                        </a:spcBef>
                        <a:spcAft>
                          <a:spcPts val="0"/>
                        </a:spcAft>
                        <a:buNone/>
                      </a:pPr>
                      <a:r>
                        <a:rPr lang="en" sz="1200"/>
                        <a:t>Uncond (no labels)</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0.002</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0.882</a:t>
                      </a:r>
                      <a:endParaRPr sz="1200" u="none" strike="noStrike" cap="none"/>
                    </a:p>
                  </a:txBody>
                  <a:tcPr marL="91450" marR="91450" marT="45725" marB="45725" anchor="ctr"/>
                </a:tc>
                <a:extLst>
                  <a:ext uri="{0D108BD9-81ED-4DB2-BD59-A6C34878D82A}">
                    <a16:rowId xmlns:a16="http://schemas.microsoft.com/office/drawing/2014/main" val="10001"/>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Cond (</a:t>
                      </a:r>
                      <a:r>
                        <a:rPr lang="en" sz="1200" u="none" strike="noStrike" cap="none"/>
                        <a:t>Normal)</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0.018</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0.847</a:t>
                      </a:r>
                      <a:endParaRPr sz="1200"/>
                    </a:p>
                  </a:txBody>
                  <a:tcPr marL="91450" marR="91450" marT="45725" marB="45725" anchor="ctr"/>
                </a:tc>
                <a:extLst>
                  <a:ext uri="{0D108BD9-81ED-4DB2-BD59-A6C34878D82A}">
                    <a16:rowId xmlns:a16="http://schemas.microsoft.com/office/drawing/2014/main" val="10002"/>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Cond (</a:t>
                      </a:r>
                      <a:r>
                        <a:rPr lang="en" sz="1200" u="none" strike="noStrike" cap="none"/>
                        <a:t>Random)</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0.022</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0.845</a:t>
                      </a:r>
                      <a:endParaRPr sz="1200"/>
                    </a:p>
                  </a:txBody>
                  <a:tcPr marL="91450" marR="91450" marT="45725" marB="45725" anchor="ctr"/>
                </a:tc>
                <a:extLst>
                  <a:ext uri="{0D108BD9-81ED-4DB2-BD59-A6C34878D82A}">
                    <a16:rowId xmlns:a16="http://schemas.microsoft.com/office/drawing/2014/main" val="10003"/>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Cond (</a:t>
                      </a:r>
                      <a:r>
                        <a:rPr lang="en" sz="1200" u="none" strike="noStrike" cap="none"/>
                        <a:t>Unique)</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0.994</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0.100</a:t>
                      </a:r>
                      <a:endParaRPr sz="1200"/>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7"/>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Visualization of Results - Experiment A</a:t>
            </a:r>
            <a:endParaRPr/>
          </a:p>
        </p:txBody>
      </p:sp>
      <p:sp>
        <p:nvSpPr>
          <p:cNvPr id="247" name="Google Shape;247;p47"/>
          <p:cNvSpPr txBox="1"/>
          <p:nvPr/>
        </p:nvSpPr>
        <p:spPr>
          <a:xfrm>
            <a:off x="457200" y="3952150"/>
            <a:ext cx="8026500" cy="9525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1800">
                <a:solidFill>
                  <a:schemeClr val="dk1"/>
                </a:solidFill>
              </a:rPr>
              <a:t>Unique labels produce 99.4% memorization while all other conditions stay below 2.2%. Label specificity is the key driver, not label meaning</a:t>
            </a:r>
            <a:endParaRPr sz="1800"/>
          </a:p>
        </p:txBody>
      </p:sp>
      <p:pic>
        <p:nvPicPr>
          <p:cNvPr id="248" name="Google Shape;248;p47"/>
          <p:cNvPicPr preferRelativeResize="0"/>
          <p:nvPr/>
        </p:nvPicPr>
        <p:blipFill>
          <a:blip r:embed="rId3">
            <a:alphaModFix/>
          </a:blip>
          <a:stretch>
            <a:fillRect/>
          </a:stretch>
        </p:blipFill>
        <p:spPr>
          <a:xfrm>
            <a:off x="370150" y="1193513"/>
            <a:ext cx="8403700" cy="27564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8"/>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SzPct val="111111"/>
              <a:buNone/>
            </a:pPr>
            <a:r>
              <a:rPr lang="en"/>
              <a:t>Visualization of Results - Generated Samples</a:t>
            </a:r>
            <a:endParaRPr/>
          </a:p>
        </p:txBody>
      </p:sp>
      <p:sp>
        <p:nvSpPr>
          <p:cNvPr id="254" name="Google Shape;254;p48"/>
          <p:cNvSpPr txBox="1"/>
          <p:nvPr/>
        </p:nvSpPr>
        <p:spPr>
          <a:xfrm>
            <a:off x="457200" y="4331950"/>
            <a:ext cx="8026500" cy="5727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1800">
                <a:solidFill>
                  <a:schemeClr val="dk1"/>
                </a:solidFill>
              </a:rPr>
              <a:t>Near pixel-level copies confirm the model is retrieving specific training images rather than generating novel content</a:t>
            </a:r>
            <a:endParaRPr sz="1800"/>
          </a:p>
        </p:txBody>
      </p:sp>
      <p:pic>
        <p:nvPicPr>
          <p:cNvPr id="255" name="Google Shape;255;p48"/>
          <p:cNvPicPr preferRelativeResize="0"/>
          <p:nvPr/>
        </p:nvPicPr>
        <p:blipFill>
          <a:blip r:embed="rId3">
            <a:alphaModFix/>
          </a:blip>
          <a:stretch>
            <a:fillRect/>
          </a:stretch>
        </p:blipFill>
        <p:spPr>
          <a:xfrm>
            <a:off x="1329800" y="939106"/>
            <a:ext cx="6484399" cy="326528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9"/>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Discussion of Results - Experiment B</a:t>
            </a:r>
            <a:endParaRPr/>
          </a:p>
        </p:txBody>
      </p:sp>
      <p:sp>
        <p:nvSpPr>
          <p:cNvPr id="261" name="Google Shape;261;p49"/>
          <p:cNvSpPr txBox="1">
            <a:spLocks noGrp="1"/>
          </p:cNvSpPr>
          <p:nvPr>
            <p:ph type="body" idx="1"/>
          </p:nvPr>
        </p:nvSpPr>
        <p:spPr>
          <a:xfrm>
            <a:off x="311700" y="1152475"/>
            <a:ext cx="5381700" cy="3674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500" b="1"/>
              <a:t>How does dataset size affect memorization?</a:t>
            </a:r>
            <a:endParaRPr sz="1500" b="1"/>
          </a:p>
          <a:p>
            <a:pPr marL="457200" lvl="0" indent="-323850" algn="l" rtl="0">
              <a:lnSpc>
                <a:spcPct val="100000"/>
              </a:lnSpc>
              <a:spcBef>
                <a:spcPts val="0"/>
              </a:spcBef>
              <a:spcAft>
                <a:spcPts val="0"/>
              </a:spcAft>
              <a:buSzPts val="1500"/>
              <a:buChar char="●"/>
            </a:pPr>
            <a:r>
              <a:rPr lang="en" sz="1500"/>
              <a:t>Small datasets (≤500) → 100% memorization</a:t>
            </a:r>
            <a:endParaRPr sz="1500"/>
          </a:p>
          <a:p>
            <a:pPr marL="457200" lvl="0" indent="0" algn="l" rtl="0">
              <a:lnSpc>
                <a:spcPct val="100000"/>
              </a:lnSpc>
              <a:spcBef>
                <a:spcPts val="0"/>
              </a:spcBef>
              <a:spcAft>
                <a:spcPts val="0"/>
              </a:spcAft>
              <a:buNone/>
            </a:pPr>
            <a:r>
              <a:rPr lang="en" sz="1500"/>
              <a:t>The model has enough capacity to memorize every image</a:t>
            </a:r>
            <a:endParaRPr sz="1500"/>
          </a:p>
          <a:p>
            <a:pPr marL="457200" lvl="0" indent="-323850" algn="l" rtl="0">
              <a:lnSpc>
                <a:spcPct val="100000"/>
              </a:lnSpc>
              <a:spcBef>
                <a:spcPts val="0"/>
              </a:spcBef>
              <a:spcAft>
                <a:spcPts val="0"/>
              </a:spcAft>
              <a:buSzPts val="1500"/>
              <a:buChar char="●"/>
            </a:pPr>
            <a:r>
              <a:rPr lang="en" sz="1500"/>
              <a:t>Larger datasets → memorization gradually decreases Shows memorization weakens gradually rather than dropping sharply</a:t>
            </a:r>
            <a:endParaRPr sz="1500"/>
          </a:p>
          <a:p>
            <a:pPr marL="0" lvl="0" indent="0" algn="l" rtl="0">
              <a:lnSpc>
                <a:spcPct val="100000"/>
              </a:lnSpc>
              <a:spcBef>
                <a:spcPts val="0"/>
              </a:spcBef>
              <a:spcAft>
                <a:spcPts val="0"/>
              </a:spcAft>
              <a:buNone/>
            </a:pPr>
            <a:endParaRPr sz="1500"/>
          </a:p>
          <a:p>
            <a:pPr marL="0" lvl="0" indent="0" algn="l" rtl="0">
              <a:lnSpc>
                <a:spcPct val="100000"/>
              </a:lnSpc>
              <a:spcBef>
                <a:spcPts val="0"/>
              </a:spcBef>
              <a:spcAft>
                <a:spcPts val="0"/>
              </a:spcAft>
              <a:buNone/>
            </a:pPr>
            <a:r>
              <a:rPr lang="en" sz="1500" i="1"/>
              <a:t>Binary memorization saturates at 100% for small datasets. The avg d1/d2 ratio is the meaningful signal, rising steadily from 0.067 to 0.513 as dataset size grows</a:t>
            </a:r>
            <a:endParaRPr sz="1500" i="1"/>
          </a:p>
          <a:p>
            <a:pPr marL="457200" lvl="0" indent="0" algn="l" rtl="0">
              <a:lnSpc>
                <a:spcPct val="100000"/>
              </a:lnSpc>
              <a:spcBef>
                <a:spcPts val="0"/>
              </a:spcBef>
              <a:spcAft>
                <a:spcPts val="0"/>
              </a:spcAft>
              <a:buNone/>
            </a:pPr>
            <a:endParaRPr sz="1500" b="1"/>
          </a:p>
        </p:txBody>
      </p:sp>
      <p:graphicFrame>
        <p:nvGraphicFramePr>
          <p:cNvPr id="262" name="Google Shape;262;p49"/>
          <p:cNvGraphicFramePr/>
          <p:nvPr/>
        </p:nvGraphicFramePr>
        <p:xfrm>
          <a:off x="5802986" y="1755202"/>
          <a:ext cx="2783500" cy="2468970"/>
        </p:xfrm>
        <a:graphic>
          <a:graphicData uri="http://schemas.openxmlformats.org/drawingml/2006/table">
            <a:tbl>
              <a:tblPr firstRow="1" bandRow="1">
                <a:noFill/>
                <a:tableStyleId>{71B6421E-6283-4F46-B845-24750E2CF080}</a:tableStyleId>
              </a:tblPr>
              <a:tblGrid>
                <a:gridCol w="1123725">
                  <a:extLst>
                    <a:ext uri="{9D8B030D-6E8A-4147-A177-3AD203B41FA5}">
                      <a16:colId xmlns:a16="http://schemas.microsoft.com/office/drawing/2014/main" val="20000"/>
                    </a:ext>
                  </a:extLst>
                </a:gridCol>
                <a:gridCol w="714025">
                  <a:extLst>
                    <a:ext uri="{9D8B030D-6E8A-4147-A177-3AD203B41FA5}">
                      <a16:colId xmlns:a16="http://schemas.microsoft.com/office/drawing/2014/main" val="20001"/>
                    </a:ext>
                  </a:extLst>
                </a:gridCol>
                <a:gridCol w="945750">
                  <a:extLst>
                    <a:ext uri="{9D8B030D-6E8A-4147-A177-3AD203B41FA5}">
                      <a16:colId xmlns:a16="http://schemas.microsoft.com/office/drawing/2014/main" val="20002"/>
                    </a:ext>
                  </a:extLst>
                </a:gridCol>
              </a:tblGrid>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Dataset Size</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Binary</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Avg Ratio</a:t>
                      </a:r>
                      <a:endParaRPr sz="1200"/>
                    </a:p>
                  </a:txBody>
                  <a:tcPr marL="91450" marR="91450" marT="45725" marB="45725" anchor="ctr"/>
                </a:tc>
                <a:extLst>
                  <a:ext uri="{0D108BD9-81ED-4DB2-BD59-A6C34878D82A}">
                    <a16:rowId xmlns:a16="http://schemas.microsoft.com/office/drawing/2014/main" val="10000"/>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50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0.067</a:t>
                      </a:r>
                      <a:endParaRPr sz="1200"/>
                    </a:p>
                  </a:txBody>
                  <a:tcPr marL="91450" marR="91450" marT="45725" marB="45725" anchor="ctr"/>
                </a:tc>
                <a:extLst>
                  <a:ext uri="{0D108BD9-81ED-4DB2-BD59-A6C34878D82A}">
                    <a16:rowId xmlns:a16="http://schemas.microsoft.com/office/drawing/2014/main" val="10001"/>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0.072</a:t>
                      </a:r>
                      <a:endParaRPr sz="1200"/>
                    </a:p>
                  </a:txBody>
                  <a:tcPr marL="91450" marR="91450" marT="45725" marB="45725" anchor="ctr"/>
                </a:tc>
                <a:extLst>
                  <a:ext uri="{0D108BD9-81ED-4DB2-BD59-A6C34878D82A}">
                    <a16:rowId xmlns:a16="http://schemas.microsoft.com/office/drawing/2014/main" val="10002"/>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250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0.084</a:t>
                      </a:r>
                      <a:endParaRPr sz="1200"/>
                    </a:p>
                  </a:txBody>
                  <a:tcPr marL="91450" marR="91450" marT="45725" marB="45725" anchor="ctr"/>
                </a:tc>
                <a:extLst>
                  <a:ext uri="{0D108BD9-81ED-4DB2-BD59-A6C34878D82A}">
                    <a16:rowId xmlns:a16="http://schemas.microsoft.com/office/drawing/2014/main" val="10003"/>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500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0.093</a:t>
                      </a:r>
                      <a:endParaRPr sz="1200"/>
                    </a:p>
                  </a:txBody>
                  <a:tcPr marL="91450" marR="91450" marT="45725" marB="45725" anchor="ctr"/>
                </a:tc>
                <a:extLst>
                  <a:ext uri="{0D108BD9-81ED-4DB2-BD59-A6C34878D82A}">
                    <a16:rowId xmlns:a16="http://schemas.microsoft.com/office/drawing/2014/main" val="10004"/>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0.998</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0.102</a:t>
                      </a:r>
                      <a:endParaRPr sz="1200"/>
                    </a:p>
                  </a:txBody>
                  <a:tcPr marL="91450" marR="91450" marT="45725" marB="45725" anchor="ctr"/>
                </a:tc>
                <a:extLst>
                  <a:ext uri="{0D108BD9-81ED-4DB2-BD59-A6C34878D82A}">
                    <a16:rowId xmlns:a16="http://schemas.microsoft.com/office/drawing/2014/main" val="10005"/>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2000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0.990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0.131</a:t>
                      </a:r>
                      <a:endParaRPr sz="1200"/>
                    </a:p>
                  </a:txBody>
                  <a:tcPr marL="91450" marR="91450" marT="45725" marB="45725" anchor="ctr"/>
                </a:tc>
                <a:extLst>
                  <a:ext uri="{0D108BD9-81ED-4DB2-BD59-A6C34878D82A}">
                    <a16:rowId xmlns:a16="http://schemas.microsoft.com/office/drawing/2014/main" val="10006"/>
                  </a:ext>
                </a:extLst>
              </a:tr>
              <a:tr h="0">
                <a:tc>
                  <a:txBody>
                    <a:bodyPr/>
                    <a:lstStyle/>
                    <a:p>
                      <a:pPr marL="0" marR="0" lvl="0" indent="0" algn="l" rtl="0">
                        <a:lnSpc>
                          <a:spcPct val="100000"/>
                        </a:lnSpc>
                        <a:spcBef>
                          <a:spcPts val="0"/>
                        </a:spcBef>
                        <a:spcAft>
                          <a:spcPts val="0"/>
                        </a:spcAft>
                        <a:buNone/>
                      </a:pPr>
                      <a:r>
                        <a:rPr lang="en" sz="1200"/>
                        <a:t>5000</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0.902</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0.214</a:t>
                      </a:r>
                      <a:endParaRPr sz="1200" u="none" strike="noStrike" cap="none"/>
                    </a:p>
                  </a:txBody>
                  <a:tcPr marL="91450" marR="91450" marT="45725" marB="45725" anchor="ctr"/>
                </a:tc>
                <a:extLst>
                  <a:ext uri="{0D108BD9-81ED-4DB2-BD59-A6C34878D82A}">
                    <a16:rowId xmlns:a16="http://schemas.microsoft.com/office/drawing/2014/main" val="10007"/>
                  </a:ext>
                </a:extLst>
              </a:tr>
              <a:tr h="127000">
                <a:tc>
                  <a:txBody>
                    <a:bodyPr/>
                    <a:lstStyle/>
                    <a:p>
                      <a:pPr marL="0" marR="0" lvl="0" indent="0" algn="l" rtl="0">
                        <a:lnSpc>
                          <a:spcPct val="100000"/>
                        </a:lnSpc>
                        <a:spcBef>
                          <a:spcPts val="0"/>
                        </a:spcBef>
                        <a:spcAft>
                          <a:spcPts val="0"/>
                        </a:spcAft>
                        <a:buNone/>
                      </a:pPr>
                      <a:r>
                        <a:rPr lang="en" sz="1200"/>
                        <a:t>10000</a:t>
                      </a:r>
                      <a:endParaRPr sz="1200"/>
                    </a:p>
                  </a:txBody>
                  <a:tcPr marL="91450" marR="91450" marT="45725" marB="45725" anchor="ctr"/>
                </a:tc>
                <a:tc>
                  <a:txBody>
                    <a:bodyPr/>
                    <a:lstStyle/>
                    <a:p>
                      <a:pPr marL="0" marR="0" lvl="0" indent="0" algn="l" rtl="0">
                        <a:lnSpc>
                          <a:spcPct val="100000"/>
                        </a:lnSpc>
                        <a:spcBef>
                          <a:spcPts val="0"/>
                        </a:spcBef>
                        <a:spcAft>
                          <a:spcPts val="0"/>
                        </a:spcAft>
                        <a:buNone/>
                      </a:pPr>
                      <a:r>
                        <a:rPr lang="en" sz="1200"/>
                        <a:t>0.330</a:t>
                      </a:r>
                      <a:endParaRPr sz="1200"/>
                    </a:p>
                  </a:txBody>
                  <a:tcPr marL="91450" marR="91450" marT="45725" marB="45725" anchor="ctr"/>
                </a:tc>
                <a:tc>
                  <a:txBody>
                    <a:bodyPr/>
                    <a:lstStyle/>
                    <a:p>
                      <a:pPr marL="0" lvl="0" indent="0" algn="l" rtl="0">
                        <a:spcBef>
                          <a:spcPts val="0"/>
                        </a:spcBef>
                        <a:spcAft>
                          <a:spcPts val="0"/>
                        </a:spcAft>
                        <a:buNone/>
                      </a:pPr>
                      <a:r>
                        <a:rPr lang="en" sz="1200">
                          <a:solidFill>
                            <a:schemeClr val="dk1"/>
                          </a:solidFill>
                        </a:rPr>
                        <a:t>0.513</a:t>
                      </a:r>
                      <a:endParaRPr sz="1200"/>
                    </a:p>
                  </a:txBody>
                  <a:tcPr marL="91450" marR="91450" marT="45725" marB="45725"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0"/>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Visualization of Results - Experiment B</a:t>
            </a:r>
            <a:endParaRPr/>
          </a:p>
        </p:txBody>
      </p:sp>
      <p:sp>
        <p:nvSpPr>
          <p:cNvPr id="268" name="Google Shape;268;p50"/>
          <p:cNvSpPr txBox="1"/>
          <p:nvPr/>
        </p:nvSpPr>
        <p:spPr>
          <a:xfrm>
            <a:off x="457200" y="3952175"/>
            <a:ext cx="8026500" cy="9525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1800">
                <a:solidFill>
                  <a:schemeClr val="dk1"/>
                </a:solidFill>
              </a:rPr>
              <a:t>Binary memorization stays at 100% until dataset size exceeds 2000. Smaller datasets give the model fewer images to distinguish between, making exact recall easier than generalization.</a:t>
            </a:r>
            <a:endParaRPr sz="1800"/>
          </a:p>
        </p:txBody>
      </p:sp>
      <p:pic>
        <p:nvPicPr>
          <p:cNvPr id="269" name="Google Shape;269;p50"/>
          <p:cNvPicPr preferRelativeResize="0"/>
          <p:nvPr/>
        </p:nvPicPr>
        <p:blipFill>
          <a:blip r:embed="rId3">
            <a:alphaModFix/>
          </a:blip>
          <a:stretch>
            <a:fillRect/>
          </a:stretch>
        </p:blipFill>
        <p:spPr>
          <a:xfrm>
            <a:off x="370150" y="1191187"/>
            <a:ext cx="8403699" cy="276111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51"/>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Discussion of Results - Experiment C</a:t>
            </a:r>
            <a:endParaRPr/>
          </a:p>
        </p:txBody>
      </p:sp>
      <p:sp>
        <p:nvSpPr>
          <p:cNvPr id="275" name="Google Shape;275;p51"/>
          <p:cNvSpPr txBox="1">
            <a:spLocks noGrp="1"/>
          </p:cNvSpPr>
          <p:nvPr>
            <p:ph type="body" idx="1"/>
          </p:nvPr>
        </p:nvSpPr>
        <p:spPr>
          <a:xfrm>
            <a:off x="311700" y="1152475"/>
            <a:ext cx="5791500" cy="3674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1500" b="1"/>
              <a:t>How does training duration affect memorization?</a:t>
            </a:r>
            <a:endParaRPr sz="1500" b="1"/>
          </a:p>
          <a:p>
            <a:pPr marL="457200" lvl="0" indent="-323850" algn="l" rtl="0">
              <a:lnSpc>
                <a:spcPct val="100000"/>
              </a:lnSpc>
              <a:spcBef>
                <a:spcPts val="0"/>
              </a:spcBef>
              <a:spcAft>
                <a:spcPts val="0"/>
              </a:spcAft>
              <a:buSzPts val="1500"/>
              <a:buChar char="●"/>
            </a:pPr>
            <a:r>
              <a:rPr lang="en" sz="1500"/>
              <a:t>Early (1000 epochs) → mostly generalization</a:t>
            </a:r>
            <a:endParaRPr sz="1500"/>
          </a:p>
          <a:p>
            <a:pPr marL="457200" lvl="0" indent="-323850" algn="l" rtl="0">
              <a:lnSpc>
                <a:spcPct val="100000"/>
              </a:lnSpc>
              <a:spcBef>
                <a:spcPts val="0"/>
              </a:spcBef>
              <a:spcAft>
                <a:spcPts val="0"/>
              </a:spcAft>
              <a:buSzPts val="1500"/>
              <a:buChar char="●"/>
            </a:pPr>
            <a:r>
              <a:rPr lang="en" sz="1500"/>
              <a:t>1000 → 2000 → sharp jump in memorization</a:t>
            </a:r>
            <a:endParaRPr sz="1500"/>
          </a:p>
          <a:p>
            <a:pPr marL="457200" lvl="0" indent="0" algn="l" rtl="0">
              <a:lnSpc>
                <a:spcPct val="100000"/>
              </a:lnSpc>
              <a:spcBef>
                <a:spcPts val="0"/>
              </a:spcBef>
              <a:spcAft>
                <a:spcPts val="0"/>
              </a:spcAft>
              <a:buNone/>
            </a:pPr>
            <a:r>
              <a:rPr lang="en" sz="1500"/>
              <a:t>Memorization emerges rapidly once the model has seen each image enough times to associate it with its unique label</a:t>
            </a:r>
            <a:endParaRPr sz="1500"/>
          </a:p>
          <a:p>
            <a:pPr marL="457200" lvl="0" indent="-323850" algn="l" rtl="0">
              <a:lnSpc>
                <a:spcPct val="100000"/>
              </a:lnSpc>
              <a:spcBef>
                <a:spcPts val="0"/>
              </a:spcBef>
              <a:spcAft>
                <a:spcPts val="0"/>
              </a:spcAft>
              <a:buSzPts val="1500"/>
              <a:buChar char="●"/>
            </a:pPr>
            <a:r>
              <a:rPr lang="en" sz="1500"/>
              <a:t>After 3000 → saturation ~100%</a:t>
            </a:r>
            <a:endParaRPr sz="1500"/>
          </a:p>
          <a:p>
            <a:pPr marL="0" lvl="0" indent="0" algn="l" rtl="0">
              <a:lnSpc>
                <a:spcPct val="100000"/>
              </a:lnSpc>
              <a:spcBef>
                <a:spcPts val="0"/>
              </a:spcBef>
              <a:spcAft>
                <a:spcPts val="0"/>
              </a:spcAft>
              <a:buNone/>
            </a:pPr>
            <a:endParaRPr sz="1500"/>
          </a:p>
          <a:p>
            <a:pPr marL="0" lvl="0" indent="0" algn="l" rtl="0">
              <a:lnSpc>
                <a:spcPct val="100000"/>
              </a:lnSpc>
              <a:spcBef>
                <a:spcPts val="0"/>
              </a:spcBef>
              <a:spcAft>
                <a:spcPts val="0"/>
              </a:spcAft>
              <a:buNone/>
            </a:pPr>
            <a:r>
              <a:rPr lang="en" sz="1500" i="1"/>
              <a:t>Memorization is not gradual. It emerges in a sharp phase transition between epochs 1000 and 2000, then saturates. The model flips from generalization to memorization as training crosses a threshold</a:t>
            </a:r>
            <a:endParaRPr sz="1500" i="1"/>
          </a:p>
        </p:txBody>
      </p:sp>
      <p:graphicFrame>
        <p:nvGraphicFramePr>
          <p:cNvPr id="276" name="Google Shape;276;p51"/>
          <p:cNvGraphicFramePr/>
          <p:nvPr/>
        </p:nvGraphicFramePr>
        <p:xfrm>
          <a:off x="6223519" y="2166700"/>
          <a:ext cx="2374325" cy="1645980"/>
        </p:xfrm>
        <a:graphic>
          <a:graphicData uri="http://schemas.openxmlformats.org/drawingml/2006/table">
            <a:tbl>
              <a:tblPr firstRow="1" bandRow="1">
                <a:noFill/>
                <a:tableStyleId>{71B6421E-6283-4F46-B845-24750E2CF080}</a:tableStyleId>
              </a:tblPr>
              <a:tblGrid>
                <a:gridCol w="667175">
                  <a:extLst>
                    <a:ext uri="{9D8B030D-6E8A-4147-A177-3AD203B41FA5}">
                      <a16:colId xmlns:a16="http://schemas.microsoft.com/office/drawing/2014/main" val="20000"/>
                    </a:ext>
                  </a:extLst>
                </a:gridCol>
                <a:gridCol w="674175">
                  <a:extLst>
                    <a:ext uri="{9D8B030D-6E8A-4147-A177-3AD203B41FA5}">
                      <a16:colId xmlns:a16="http://schemas.microsoft.com/office/drawing/2014/main" val="20001"/>
                    </a:ext>
                  </a:extLst>
                </a:gridCol>
                <a:gridCol w="1032975">
                  <a:extLst>
                    <a:ext uri="{9D8B030D-6E8A-4147-A177-3AD203B41FA5}">
                      <a16:colId xmlns:a16="http://schemas.microsoft.com/office/drawing/2014/main" val="20002"/>
                    </a:ext>
                  </a:extLst>
                </a:gridCol>
              </a:tblGrid>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Epoch</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Binary</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Avg Ratio</a:t>
                      </a:r>
                      <a:endParaRPr sz="1200"/>
                    </a:p>
                  </a:txBody>
                  <a:tcPr marL="91450" marR="91450" marT="45725" marB="45725" anchor="ctr"/>
                </a:tc>
                <a:extLst>
                  <a:ext uri="{0D108BD9-81ED-4DB2-BD59-A6C34878D82A}">
                    <a16:rowId xmlns:a16="http://schemas.microsoft.com/office/drawing/2014/main" val="10000"/>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0.180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0.574</a:t>
                      </a:r>
                      <a:endParaRPr sz="1200"/>
                    </a:p>
                  </a:txBody>
                  <a:tcPr marL="91450" marR="91450" marT="45725" marB="45725" anchor="ctr"/>
                </a:tc>
                <a:extLst>
                  <a:ext uri="{0D108BD9-81ED-4DB2-BD59-A6C34878D82A}">
                    <a16:rowId xmlns:a16="http://schemas.microsoft.com/office/drawing/2014/main" val="10001"/>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2000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0.812</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0.250</a:t>
                      </a:r>
                      <a:endParaRPr sz="1200"/>
                    </a:p>
                  </a:txBody>
                  <a:tcPr marL="91450" marR="91450" marT="45725" marB="45725" anchor="ctr"/>
                </a:tc>
                <a:extLst>
                  <a:ext uri="{0D108BD9-81ED-4DB2-BD59-A6C34878D82A}">
                    <a16:rowId xmlns:a16="http://schemas.microsoft.com/office/drawing/2014/main" val="10002"/>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3000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0.976</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0.156</a:t>
                      </a:r>
                      <a:endParaRPr sz="1200"/>
                    </a:p>
                  </a:txBody>
                  <a:tcPr marL="91450" marR="91450" marT="45725" marB="45725" anchor="ctr"/>
                </a:tc>
                <a:extLst>
                  <a:ext uri="{0D108BD9-81ED-4DB2-BD59-A6C34878D82A}">
                    <a16:rowId xmlns:a16="http://schemas.microsoft.com/office/drawing/2014/main" val="10003"/>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4000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0.996</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0.120</a:t>
                      </a:r>
                      <a:endParaRPr sz="1200"/>
                    </a:p>
                  </a:txBody>
                  <a:tcPr marL="91450" marR="91450" marT="45725" marB="45725" anchor="ctr"/>
                </a:tc>
                <a:extLst>
                  <a:ext uri="{0D108BD9-81ED-4DB2-BD59-A6C34878D82A}">
                    <a16:rowId xmlns:a16="http://schemas.microsoft.com/office/drawing/2014/main" val="10004"/>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5000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0.998</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0.104</a:t>
                      </a:r>
                      <a:endParaRPr sz="1200"/>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2"/>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Visualization of Results - Experiment C</a:t>
            </a:r>
            <a:endParaRPr/>
          </a:p>
        </p:txBody>
      </p:sp>
      <p:sp>
        <p:nvSpPr>
          <p:cNvPr id="282" name="Google Shape;282;p52"/>
          <p:cNvSpPr txBox="1"/>
          <p:nvPr/>
        </p:nvSpPr>
        <p:spPr>
          <a:xfrm>
            <a:off x="457200" y="3952150"/>
            <a:ext cx="8142300" cy="9525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1800">
                <a:solidFill>
                  <a:schemeClr val="dk1"/>
                </a:solidFill>
              </a:rPr>
              <a:t>A sharp phase transition between epochs 1000 and 2000 and it flips from generalization to memorization.</a:t>
            </a:r>
            <a:endParaRPr sz="1800"/>
          </a:p>
        </p:txBody>
      </p:sp>
      <p:pic>
        <p:nvPicPr>
          <p:cNvPr id="283" name="Google Shape;283;p52"/>
          <p:cNvPicPr preferRelativeResize="0"/>
          <p:nvPr/>
        </p:nvPicPr>
        <p:blipFill>
          <a:blip r:embed="rId3">
            <a:alphaModFix/>
          </a:blip>
          <a:stretch>
            <a:fillRect/>
          </a:stretch>
        </p:blipFill>
        <p:spPr>
          <a:xfrm>
            <a:off x="370163" y="1193513"/>
            <a:ext cx="8403674" cy="27564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53"/>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Discussion of Results - Experiment D</a:t>
            </a:r>
            <a:endParaRPr/>
          </a:p>
        </p:txBody>
      </p:sp>
      <p:sp>
        <p:nvSpPr>
          <p:cNvPr id="289" name="Google Shape;289;p53"/>
          <p:cNvSpPr txBox="1">
            <a:spLocks noGrp="1"/>
          </p:cNvSpPr>
          <p:nvPr>
            <p:ph type="body" idx="1"/>
          </p:nvPr>
        </p:nvSpPr>
        <p:spPr>
          <a:xfrm>
            <a:off x="311700" y="1152475"/>
            <a:ext cx="5724300" cy="3674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500" b="1"/>
              <a:t>How does the number of random classes affect memorization?</a:t>
            </a:r>
            <a:endParaRPr sz="1500" b="1"/>
          </a:p>
          <a:p>
            <a:pPr marL="457200" lvl="0" indent="-323850" algn="l" rtl="0">
              <a:lnSpc>
                <a:spcPct val="100000"/>
              </a:lnSpc>
              <a:spcBef>
                <a:spcPts val="0"/>
              </a:spcBef>
              <a:spcAft>
                <a:spcPts val="0"/>
              </a:spcAft>
              <a:buSzPts val="1500"/>
              <a:buChar char="●"/>
            </a:pPr>
            <a:r>
              <a:rPr lang="en" sz="1500"/>
              <a:t>Few classes → low memorization</a:t>
            </a:r>
            <a:endParaRPr sz="1500"/>
          </a:p>
          <a:p>
            <a:pPr marL="457200" lvl="0" indent="0" algn="l" rtl="0">
              <a:lnSpc>
                <a:spcPct val="100000"/>
              </a:lnSpc>
              <a:spcBef>
                <a:spcPts val="0"/>
              </a:spcBef>
              <a:spcAft>
                <a:spcPts val="0"/>
              </a:spcAft>
              <a:buNone/>
            </a:pPr>
            <a:r>
              <a:rPr lang="en" sz="1500"/>
              <a:t>Many images share the same label so the model can generalize</a:t>
            </a:r>
            <a:endParaRPr sz="1500"/>
          </a:p>
          <a:p>
            <a:pPr marL="457200" lvl="0" indent="-323850" algn="l" rtl="0">
              <a:lnSpc>
                <a:spcPct val="100000"/>
              </a:lnSpc>
              <a:spcBef>
                <a:spcPts val="0"/>
              </a:spcBef>
              <a:spcAft>
                <a:spcPts val="0"/>
              </a:spcAft>
              <a:buSzPts val="1500"/>
              <a:buChar char="●"/>
            </a:pPr>
            <a:r>
              <a:rPr lang="en" sz="1500"/>
              <a:t>More classes → memorization increases</a:t>
            </a:r>
            <a:endParaRPr sz="1500"/>
          </a:p>
          <a:p>
            <a:pPr marL="457200" lvl="0" indent="0" algn="l" rtl="0">
              <a:lnSpc>
                <a:spcPct val="100000"/>
              </a:lnSpc>
              <a:spcBef>
                <a:spcPts val="0"/>
              </a:spcBef>
              <a:spcAft>
                <a:spcPts val="0"/>
              </a:spcAft>
              <a:buNone/>
            </a:pPr>
            <a:r>
              <a:rPr lang="en" sz="1500"/>
              <a:t>Each label now covers fewer images, reducing the model's ability to generalize within a group</a:t>
            </a:r>
            <a:endParaRPr sz="1500"/>
          </a:p>
          <a:p>
            <a:pPr marL="457200" lvl="0" indent="-323850" algn="l" rtl="0">
              <a:lnSpc>
                <a:spcPct val="100000"/>
              </a:lnSpc>
              <a:spcBef>
                <a:spcPts val="0"/>
              </a:spcBef>
              <a:spcAft>
                <a:spcPts val="0"/>
              </a:spcAft>
              <a:buSzPts val="1500"/>
              <a:buChar char="●"/>
            </a:pPr>
            <a:r>
              <a:rPr lang="en" sz="1500"/>
              <a:t>1000 classes → ~100% memorization</a:t>
            </a:r>
            <a:endParaRPr sz="1500"/>
          </a:p>
          <a:p>
            <a:pPr marL="457200" lvl="0" indent="0" algn="l" rtl="0">
              <a:lnSpc>
                <a:spcPct val="100000"/>
              </a:lnSpc>
              <a:spcBef>
                <a:spcPts val="0"/>
              </a:spcBef>
              <a:spcAft>
                <a:spcPts val="0"/>
              </a:spcAft>
              <a:buNone/>
            </a:pPr>
            <a:r>
              <a:rPr lang="en" sz="1500"/>
              <a:t>equivalent to unique labels</a:t>
            </a:r>
            <a:endParaRPr sz="1500"/>
          </a:p>
          <a:p>
            <a:pPr marL="0" lvl="0" indent="0" algn="l" rtl="0">
              <a:lnSpc>
                <a:spcPct val="100000"/>
              </a:lnSpc>
              <a:spcBef>
                <a:spcPts val="0"/>
              </a:spcBef>
              <a:spcAft>
                <a:spcPts val="0"/>
              </a:spcAft>
              <a:buNone/>
            </a:pPr>
            <a:endParaRPr sz="1500" i="1"/>
          </a:p>
          <a:p>
            <a:pPr marL="0" lvl="0" indent="0" algn="l" rtl="0">
              <a:lnSpc>
                <a:spcPct val="100000"/>
              </a:lnSpc>
              <a:spcBef>
                <a:spcPts val="0"/>
              </a:spcBef>
              <a:spcAft>
                <a:spcPts val="0"/>
              </a:spcAft>
              <a:buNone/>
            </a:pPr>
            <a:r>
              <a:rPr lang="en" sz="1500" i="1"/>
              <a:t>Memorization scales with label specificity. The fewer images per class, the less the model can generalize within a group. At C=|D|=1000 every image has its own label and memorization reaches 99.8%</a:t>
            </a:r>
            <a:endParaRPr sz="1500" i="1"/>
          </a:p>
        </p:txBody>
      </p:sp>
      <p:graphicFrame>
        <p:nvGraphicFramePr>
          <p:cNvPr id="290" name="Google Shape;290;p53"/>
          <p:cNvGraphicFramePr/>
          <p:nvPr/>
        </p:nvGraphicFramePr>
        <p:xfrm>
          <a:off x="6113667" y="2029538"/>
          <a:ext cx="2544975" cy="1920310"/>
        </p:xfrm>
        <a:graphic>
          <a:graphicData uri="http://schemas.openxmlformats.org/drawingml/2006/table">
            <a:tbl>
              <a:tblPr firstRow="1" bandRow="1">
                <a:noFill/>
                <a:tableStyleId>{71B6421E-6283-4F46-B845-24750E2CF080}</a:tableStyleId>
              </a:tblPr>
              <a:tblGrid>
                <a:gridCol w="772025">
                  <a:extLst>
                    <a:ext uri="{9D8B030D-6E8A-4147-A177-3AD203B41FA5}">
                      <a16:colId xmlns:a16="http://schemas.microsoft.com/office/drawing/2014/main" val="20000"/>
                    </a:ext>
                  </a:extLst>
                </a:gridCol>
                <a:gridCol w="768125">
                  <a:extLst>
                    <a:ext uri="{9D8B030D-6E8A-4147-A177-3AD203B41FA5}">
                      <a16:colId xmlns:a16="http://schemas.microsoft.com/office/drawing/2014/main" val="20001"/>
                    </a:ext>
                  </a:extLst>
                </a:gridCol>
                <a:gridCol w="1004825">
                  <a:extLst>
                    <a:ext uri="{9D8B030D-6E8A-4147-A177-3AD203B41FA5}">
                      <a16:colId xmlns:a16="http://schemas.microsoft.com/office/drawing/2014/main" val="20002"/>
                    </a:ext>
                  </a:extLst>
                </a:gridCol>
              </a:tblGrid>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b="1"/>
                        <a:t>Classes</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Binary</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b="1" u="none" strike="noStrike" cap="none"/>
                        <a:t>Avg Ratio</a:t>
                      </a:r>
                      <a:endParaRPr sz="1200"/>
                    </a:p>
                  </a:txBody>
                  <a:tcPr marL="91450" marR="91450" marT="45725" marB="45725" anchor="ctr"/>
                </a:tc>
                <a:extLst>
                  <a:ext uri="{0D108BD9-81ED-4DB2-BD59-A6C34878D82A}">
                    <a16:rowId xmlns:a16="http://schemas.microsoft.com/office/drawing/2014/main" val="10000"/>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1</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006</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871</a:t>
                      </a:r>
                      <a:endParaRPr sz="1200"/>
                    </a:p>
                  </a:txBody>
                  <a:tcPr marL="91450" marR="91450" marT="45725" marB="45725" anchor="ctr"/>
                </a:tc>
                <a:extLst>
                  <a:ext uri="{0D108BD9-81ED-4DB2-BD59-A6C34878D82A}">
                    <a16:rowId xmlns:a16="http://schemas.microsoft.com/office/drawing/2014/main" val="10001"/>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10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018</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847</a:t>
                      </a:r>
                      <a:endParaRPr sz="1200"/>
                    </a:p>
                  </a:txBody>
                  <a:tcPr marL="91450" marR="91450" marT="45725" marB="45725" anchor="ctr"/>
                </a:tc>
                <a:extLst>
                  <a:ext uri="{0D108BD9-81ED-4DB2-BD59-A6C34878D82A}">
                    <a16:rowId xmlns:a16="http://schemas.microsoft.com/office/drawing/2014/main" val="10002"/>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50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100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765</a:t>
                      </a:r>
                      <a:endParaRPr sz="1200"/>
                    </a:p>
                  </a:txBody>
                  <a:tcPr marL="91450" marR="91450" marT="45725" marB="45725" anchor="ctr"/>
                </a:tc>
                <a:extLst>
                  <a:ext uri="{0D108BD9-81ED-4DB2-BD59-A6C34878D82A}">
                    <a16:rowId xmlns:a16="http://schemas.microsoft.com/office/drawing/2014/main" val="10003"/>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a:t>100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206</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668</a:t>
                      </a:r>
                      <a:endParaRPr sz="1200"/>
                    </a:p>
                  </a:txBody>
                  <a:tcPr marL="91450" marR="91450" marT="45725" marB="45725" anchor="ctr"/>
                </a:tc>
                <a:extLst>
                  <a:ext uri="{0D108BD9-81ED-4DB2-BD59-A6C34878D82A}">
                    <a16:rowId xmlns:a16="http://schemas.microsoft.com/office/drawing/2014/main" val="10004"/>
                  </a:ext>
                </a:extLst>
              </a:tr>
              <a:tr h="1270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500</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a:t>
                      </a:r>
                      <a:r>
                        <a:rPr lang="en" sz="1200"/>
                        <a:t>576</a:t>
                      </a:r>
                      <a:endParaRPr sz="1200"/>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t>0.420</a:t>
                      </a:r>
                      <a:endParaRPr sz="1200"/>
                    </a:p>
                  </a:txBody>
                  <a:tcPr marL="91450" marR="91450" marT="45725" marB="45725" anchor="ctr"/>
                </a:tc>
                <a:extLst>
                  <a:ext uri="{0D108BD9-81ED-4DB2-BD59-A6C34878D82A}">
                    <a16:rowId xmlns:a16="http://schemas.microsoft.com/office/drawing/2014/main" val="10005"/>
                  </a:ext>
                </a:extLst>
              </a:tr>
              <a:tr h="127000">
                <a:tc>
                  <a:txBody>
                    <a:bodyPr/>
                    <a:lstStyle/>
                    <a:p>
                      <a:pPr marL="0" marR="0" lvl="0" indent="0" algn="l" rtl="0">
                        <a:lnSpc>
                          <a:spcPct val="100000"/>
                        </a:lnSpc>
                        <a:spcBef>
                          <a:spcPts val="0"/>
                        </a:spcBef>
                        <a:spcAft>
                          <a:spcPts val="0"/>
                        </a:spcAft>
                        <a:buNone/>
                      </a:pPr>
                      <a:r>
                        <a:rPr lang="en" sz="1200"/>
                        <a:t>1000</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0.998</a:t>
                      </a:r>
                      <a:endParaRPr sz="1200" u="none" strike="noStrike" cap="none"/>
                    </a:p>
                  </a:txBody>
                  <a:tcPr marL="91450" marR="91450" marT="45725" marB="45725" anchor="ctr"/>
                </a:tc>
                <a:tc>
                  <a:txBody>
                    <a:bodyPr/>
                    <a:lstStyle/>
                    <a:p>
                      <a:pPr marL="0" marR="0" lvl="0" indent="0" algn="l" rtl="0">
                        <a:lnSpc>
                          <a:spcPct val="100000"/>
                        </a:lnSpc>
                        <a:spcBef>
                          <a:spcPts val="0"/>
                        </a:spcBef>
                        <a:spcAft>
                          <a:spcPts val="0"/>
                        </a:spcAft>
                        <a:buNone/>
                      </a:pPr>
                      <a:r>
                        <a:rPr lang="en" sz="1200"/>
                        <a:t>0.098</a:t>
                      </a:r>
                      <a:endParaRPr sz="1200" u="none" strike="noStrike" cap="none"/>
                    </a:p>
                  </a:txBody>
                  <a:tcPr marL="91450" marR="91450" marT="45725" marB="457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4"/>
          <p:cNvSpPr txBox="1">
            <a:spLocks noGrp="1"/>
          </p:cNvSpPr>
          <p:nvPr>
            <p:ph type="title"/>
          </p:nvPr>
        </p:nvSpPr>
        <p:spPr>
          <a:xfrm>
            <a:off x="311700" y="124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Visualization of Results - Experiment D</a:t>
            </a:r>
            <a:endParaRPr/>
          </a:p>
        </p:txBody>
      </p:sp>
      <p:sp>
        <p:nvSpPr>
          <p:cNvPr id="296" name="Google Shape;296;p54"/>
          <p:cNvSpPr txBox="1"/>
          <p:nvPr/>
        </p:nvSpPr>
        <p:spPr>
          <a:xfrm>
            <a:off x="457200" y="3952150"/>
            <a:ext cx="8026500" cy="9525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r>
              <a:rPr lang="en" sz="1800">
                <a:solidFill>
                  <a:schemeClr val="dk1"/>
                </a:solidFill>
              </a:rPr>
              <a:t>As the number of random classes increases, each label covers fewer images, forcing the model toward memorizing individual samples</a:t>
            </a:r>
            <a:endParaRPr sz="1800"/>
          </a:p>
        </p:txBody>
      </p:sp>
      <p:pic>
        <p:nvPicPr>
          <p:cNvPr id="297" name="Google Shape;297;p54"/>
          <p:cNvPicPr preferRelativeResize="0"/>
          <p:nvPr/>
        </p:nvPicPr>
        <p:blipFill>
          <a:blip r:embed="rId3">
            <a:alphaModFix/>
          </a:blip>
          <a:stretch>
            <a:fillRect/>
          </a:stretch>
        </p:blipFill>
        <p:spPr>
          <a:xfrm>
            <a:off x="370175" y="1193525"/>
            <a:ext cx="8403650" cy="27564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5"/>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Discussion of Results (Contd.)</a:t>
            </a:r>
            <a:endParaRPr/>
          </a:p>
        </p:txBody>
      </p:sp>
      <p:sp>
        <p:nvSpPr>
          <p:cNvPr id="303" name="Google Shape;303;p55"/>
          <p:cNvSpPr txBox="1">
            <a:spLocks noGrp="1"/>
          </p:cNvSpPr>
          <p:nvPr>
            <p:ph type="body" idx="1"/>
          </p:nvPr>
        </p:nvSpPr>
        <p:spPr>
          <a:xfrm>
            <a:off x="311700" y="1152475"/>
            <a:ext cx="8520600" cy="3674400"/>
          </a:xfrm>
          <a:prstGeom prst="rect">
            <a:avLst/>
          </a:prstGeom>
          <a:noFill/>
          <a:ln>
            <a:noFill/>
          </a:ln>
        </p:spPr>
        <p:txBody>
          <a:bodyPr spcFirstLastPara="1" wrap="square" lIns="91425" tIns="91425" rIns="91425" bIns="91425" anchor="t" anchorCtr="0">
            <a:normAutofit fontScale="85000" lnSpcReduction="10000"/>
          </a:bodyPr>
          <a:lstStyle/>
          <a:p>
            <a:pPr marL="0" lvl="0" indent="0" algn="l" rtl="0">
              <a:spcBef>
                <a:spcPts val="0"/>
              </a:spcBef>
              <a:spcAft>
                <a:spcPts val="0"/>
              </a:spcAft>
              <a:buClr>
                <a:schemeClr val="dk1"/>
              </a:buClr>
              <a:buSzPct val="61111"/>
              <a:buFont typeface="Arial"/>
              <a:buNone/>
            </a:pPr>
            <a:r>
              <a:rPr lang="en" b="1"/>
              <a:t>Wall Clock Time:</a:t>
            </a:r>
            <a:endParaRPr b="1"/>
          </a:p>
          <a:p>
            <a:pPr marL="0" lvl="0" indent="0" algn="l" rtl="0">
              <a:spcBef>
                <a:spcPts val="0"/>
              </a:spcBef>
              <a:spcAft>
                <a:spcPts val="0"/>
              </a:spcAft>
              <a:buClr>
                <a:schemeClr val="dk1"/>
              </a:buClr>
              <a:buSzPct val="61111"/>
              <a:buFont typeface="Arial"/>
              <a:buNone/>
            </a:pPr>
            <a:r>
              <a:rPr lang="en"/>
              <a:t>All experiments took ~80 hrs. Most experiments were run in parallel.</a:t>
            </a:r>
            <a:endParaRPr/>
          </a:p>
          <a:p>
            <a:pPr marL="0" lvl="0" indent="0" algn="l" rtl="0">
              <a:spcBef>
                <a:spcPts val="0"/>
              </a:spcBef>
              <a:spcAft>
                <a:spcPts val="0"/>
              </a:spcAft>
              <a:buClr>
                <a:schemeClr val="dk1"/>
              </a:buClr>
              <a:buSzPct val="61111"/>
              <a:buFont typeface="Arial"/>
              <a:buNone/>
            </a:pPr>
            <a:endParaRPr b="1"/>
          </a:p>
          <a:p>
            <a:pPr marL="0" lvl="0" indent="0" algn="l" rtl="0">
              <a:spcBef>
                <a:spcPts val="0"/>
              </a:spcBef>
              <a:spcAft>
                <a:spcPts val="0"/>
              </a:spcAft>
              <a:buClr>
                <a:schemeClr val="dk1"/>
              </a:buClr>
              <a:buSzPct val="61111"/>
              <a:buFont typeface="Arial"/>
              <a:buNone/>
            </a:pPr>
            <a:r>
              <a:rPr lang="en" b="1"/>
              <a:t>What Worked:</a:t>
            </a:r>
            <a:endParaRPr b="1"/>
          </a:p>
          <a:p>
            <a:pPr marL="457200" lvl="0" indent="-325755" algn="l" rtl="0">
              <a:spcBef>
                <a:spcPts val="0"/>
              </a:spcBef>
              <a:spcAft>
                <a:spcPts val="0"/>
              </a:spcAft>
              <a:buSzPct val="100000"/>
              <a:buChar char="●"/>
            </a:pPr>
            <a:r>
              <a:rPr lang="en"/>
              <a:t>All four experiments produced results in the correct direction matching the paper's findings</a:t>
            </a:r>
            <a:endParaRPr/>
          </a:p>
          <a:p>
            <a:pPr marL="457200" lvl="0" indent="-325755" algn="l" rtl="0">
              <a:spcBef>
                <a:spcPts val="0"/>
              </a:spcBef>
              <a:spcAft>
                <a:spcPts val="0"/>
              </a:spcAft>
              <a:buSzPct val="100000"/>
              <a:buChar char="●"/>
            </a:pPr>
            <a:r>
              <a:rPr lang="en"/>
              <a:t>Simpler model was able to reproduce the key memorization behaviors. Visual results confirm memorization.</a:t>
            </a:r>
            <a:endParaRPr/>
          </a:p>
          <a:p>
            <a:pPr marL="0" lvl="0" indent="0" algn="l" rtl="0">
              <a:spcBef>
                <a:spcPts val="0"/>
              </a:spcBef>
              <a:spcAft>
                <a:spcPts val="0"/>
              </a:spcAft>
              <a:buNone/>
            </a:pPr>
            <a:endParaRPr/>
          </a:p>
          <a:p>
            <a:pPr marL="0" lvl="0" indent="0" algn="l" rtl="0">
              <a:spcBef>
                <a:spcPts val="0"/>
              </a:spcBef>
              <a:spcAft>
                <a:spcPts val="0"/>
              </a:spcAft>
              <a:buNone/>
            </a:pPr>
            <a:r>
              <a:rPr lang="en" b="1"/>
              <a:t>What Didn't Work:</a:t>
            </a:r>
            <a:endParaRPr b="1"/>
          </a:p>
          <a:p>
            <a:pPr marL="457200" lvl="0" indent="-325755" algn="l" rtl="0">
              <a:spcBef>
                <a:spcPts val="0"/>
              </a:spcBef>
              <a:spcAft>
                <a:spcPts val="0"/>
              </a:spcAft>
              <a:buSzPct val="100000"/>
              <a:buChar char="●"/>
            </a:pPr>
            <a:r>
              <a:rPr lang="en"/>
              <a:t>Binary metric alone was not enough. avg d1/d2 ratio was needed to recover the trend, which is not a metric the paper reports directly</a:t>
            </a:r>
            <a:endParaRPr/>
          </a:p>
          <a:p>
            <a:pPr marL="457200" lvl="0" indent="-325755" algn="l" rtl="0">
              <a:spcBef>
                <a:spcPts val="0"/>
              </a:spcBef>
              <a:spcAft>
                <a:spcPts val="0"/>
              </a:spcAft>
              <a:buSzPct val="100000"/>
              <a:buChar char="●"/>
            </a:pPr>
            <a:r>
              <a:rPr lang="en"/>
              <a:t>The paper's dataset size and training time experiments use normal label conditioning as the baseline, not unique labels. We switched to unique labels to produce visible memorization within our 5,000 epoch budget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6"/>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Pros and Cons of Approach</a:t>
            </a:r>
            <a:endParaRPr/>
          </a:p>
        </p:txBody>
      </p:sp>
      <p:sp>
        <p:nvSpPr>
          <p:cNvPr id="309" name="Google Shape;309;p5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b="1"/>
              <a:t>Pro:</a:t>
            </a:r>
            <a:endParaRPr b="1"/>
          </a:p>
          <a:p>
            <a:pPr marL="457200" lvl="0" indent="-342900" algn="l" rtl="0">
              <a:lnSpc>
                <a:spcPct val="115000"/>
              </a:lnSpc>
              <a:spcBef>
                <a:spcPts val="0"/>
              </a:spcBef>
              <a:spcAft>
                <a:spcPts val="0"/>
              </a:spcAft>
              <a:buSzPts val="1800"/>
              <a:buChar char="●"/>
            </a:pPr>
            <a:r>
              <a:rPr lang="en"/>
              <a:t>Accessible replication; core memorization phenomena reproduced on a single A100 in a realistic time frame, making the paper's findings verifiable without large-scale compute infrastructure</a:t>
            </a:r>
            <a:endParaRPr/>
          </a:p>
          <a:p>
            <a:pPr marL="457200" lvl="0" indent="-342900" algn="l" rtl="0">
              <a:lnSpc>
                <a:spcPct val="115000"/>
              </a:lnSpc>
              <a:spcBef>
                <a:spcPts val="0"/>
              </a:spcBef>
              <a:spcAft>
                <a:spcPts val="0"/>
              </a:spcAft>
              <a:buSzPts val="1800"/>
              <a:buChar char="●"/>
            </a:pPr>
            <a:r>
              <a:rPr lang="en"/>
              <a:t>Also shows us that memorization behavior does not depend on model complexity</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 b="1"/>
              <a:t>Cons:</a:t>
            </a:r>
            <a:endParaRPr b="1"/>
          </a:p>
          <a:p>
            <a:pPr marL="457200" lvl="0" indent="-342900" algn="l" rtl="0">
              <a:lnSpc>
                <a:spcPct val="115000"/>
              </a:lnSpc>
              <a:spcBef>
                <a:spcPts val="0"/>
              </a:spcBef>
              <a:spcAft>
                <a:spcPts val="0"/>
              </a:spcAft>
              <a:buSzPts val="1800"/>
              <a:buChar char="●"/>
            </a:pPr>
            <a:r>
              <a:rPr lang="en"/>
              <a:t>Simplified model limits scope; our 9.5M parameter DDPM cannot fully reproduce the memorization results across all configurations tested in the paper with a 56M parameter EDM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7"/>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Course Concepts</a:t>
            </a:r>
            <a:endParaRPr/>
          </a:p>
        </p:txBody>
      </p:sp>
      <p:sp>
        <p:nvSpPr>
          <p:cNvPr id="315" name="Google Shape;315;p5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arenR"/>
            </a:pPr>
            <a:r>
              <a:rPr lang="en"/>
              <a:t>Forward (noise) and reverse (denoising) process </a:t>
            </a:r>
            <a:endParaRPr/>
          </a:p>
          <a:p>
            <a:pPr marL="457200" lvl="0" indent="-342900" algn="l" rtl="0">
              <a:spcBef>
                <a:spcPts val="0"/>
              </a:spcBef>
              <a:spcAft>
                <a:spcPts val="0"/>
              </a:spcAft>
              <a:buSzPts val="1800"/>
              <a:buAutoNum type="arabicParenR"/>
            </a:pPr>
            <a:r>
              <a:rPr lang="en"/>
              <a:t>Sampling</a:t>
            </a:r>
            <a:endParaRPr/>
          </a:p>
          <a:p>
            <a:pPr marL="457200" lvl="0" indent="-342900" algn="l" rtl="0">
              <a:spcBef>
                <a:spcPts val="0"/>
              </a:spcBef>
              <a:spcAft>
                <a:spcPts val="0"/>
              </a:spcAft>
              <a:buSzPts val="1800"/>
              <a:buAutoNum type="arabicParenR"/>
            </a:pPr>
            <a:r>
              <a:rPr lang="en"/>
              <a:t>Generalization and overfitting</a:t>
            </a:r>
            <a:endParaRPr>
              <a:highlight>
                <a:srgbClr val="FFFF00"/>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9"/>
          <p:cNvSpPr txBox="1">
            <a:spLocks noGrp="1"/>
          </p:cNvSpPr>
          <p:nvPr>
            <p:ph type="title"/>
          </p:nvPr>
        </p:nvSpPr>
        <p:spPr>
          <a:xfrm>
            <a:off x="311700" y="148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References</a:t>
            </a:r>
            <a:endParaRPr/>
          </a:p>
        </p:txBody>
      </p:sp>
      <p:sp>
        <p:nvSpPr>
          <p:cNvPr id="327" name="Google Shape;327;p5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AutoNum type="arabicPeriod"/>
            </a:pPr>
            <a:r>
              <a:rPr lang="en"/>
              <a:t>Jennewein, Douglas M. et al. "The Sol Supercomputer at Arizona State University." In Practice and Experience in Advanced Research Computing (pp. 296–301). Association for Computing Machinery, 2023.</a:t>
            </a:r>
            <a:endParaRPr/>
          </a:p>
          <a:p>
            <a:pPr marL="457200" lvl="0" indent="-342900" algn="l" rtl="0">
              <a:spcBef>
                <a:spcPts val="0"/>
              </a:spcBef>
              <a:spcAft>
                <a:spcPts val="0"/>
              </a:spcAft>
              <a:buSzPts val="1800"/>
              <a:buAutoNum type="arabicPeriod"/>
            </a:pPr>
            <a:r>
              <a:rPr lang="en"/>
              <a:t>Gu, X., Du, C., Pang, T., Li, C., Lin, M., &amp; Wang, Y. (2025). On Memorization in Diffusion Models. Transactions on Machine Learning Research</a:t>
            </a:r>
            <a:endParaRPr/>
          </a:p>
          <a:p>
            <a:pPr marL="457200" lvl="0" indent="-342900" algn="l" rtl="0">
              <a:spcBef>
                <a:spcPts val="0"/>
              </a:spcBef>
              <a:spcAft>
                <a:spcPts val="0"/>
              </a:spcAft>
              <a:buSzPts val="1800"/>
              <a:buAutoNum type="arabicPeriod"/>
            </a:pPr>
            <a:r>
              <a:rPr lang="en"/>
              <a:t>Carlini, N., Hayes, J., Nasr, M., Jagielski, M., Sehwag, V., Tramèr, F., Balle, B., Ippolito, D., &amp; Wallace, E. (2023). Extracting training data from diffusion models. arXiv</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800"/>
              <a:t>Thank You</a:t>
            </a:r>
            <a:endParaRPr sz="3800"/>
          </a:p>
          <a:p>
            <a:pPr marL="0" lvl="0" indent="0" algn="ctr" rtl="0">
              <a:spcBef>
                <a:spcPts val="0"/>
              </a:spcBef>
              <a:spcAft>
                <a:spcPts val="0"/>
              </a:spcAft>
              <a:buNone/>
            </a:pPr>
            <a:r>
              <a:rPr lang="en" sz="3800"/>
              <a:t>Questions?</a:t>
            </a:r>
            <a:endParaRPr sz="38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2103</Words>
  <Application>Microsoft Office PowerPoint</Application>
  <PresentationFormat>On-screen Show (16:9)</PresentationFormat>
  <Paragraphs>345</Paragraphs>
  <Slides>35</Slides>
  <Notes>35</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35</vt:i4>
      </vt:variant>
    </vt:vector>
  </HeadingPairs>
  <TitlesOfParts>
    <vt:vector size="38" baseType="lpstr">
      <vt:lpstr>Arial</vt:lpstr>
      <vt:lpstr>Simple Light</vt:lpstr>
      <vt:lpstr>Simple Light</vt:lpstr>
      <vt:lpstr>EEE 598: Generative AI: Theory and Practice</vt:lpstr>
      <vt:lpstr>Project Topic &amp; Paper Reference</vt:lpstr>
      <vt:lpstr>Motivation</vt:lpstr>
      <vt:lpstr>Motivation (Cont.)</vt:lpstr>
      <vt:lpstr>Positives and Negatives of the DSM Loss</vt:lpstr>
      <vt:lpstr>Goal of the Paper</vt:lpstr>
      <vt:lpstr>Key Ideas from the Paper</vt:lpstr>
      <vt:lpstr>Defintions of Memorization Metrics</vt:lpstr>
      <vt:lpstr>Key Ideas from the Paper (Cont.)</vt:lpstr>
      <vt:lpstr>Hypotheses Tested in the Paper</vt:lpstr>
      <vt:lpstr>Goal of Project</vt:lpstr>
      <vt:lpstr>Dataset For Experiments</vt:lpstr>
      <vt:lpstr>CIFAR-10 Dataset</vt:lpstr>
      <vt:lpstr>Detailed Problem Setup</vt:lpstr>
      <vt:lpstr>Detailed Problem Setup (Cont.)</vt:lpstr>
      <vt:lpstr>Detailed Problem Setup (Cont.)</vt:lpstr>
      <vt:lpstr>Training and Sampling Pipeline</vt:lpstr>
      <vt:lpstr>Main Results</vt:lpstr>
      <vt:lpstr>Experiment Setups</vt:lpstr>
      <vt:lpstr>Hyperparameters and Ranges</vt:lpstr>
      <vt:lpstr>Hyperparameters and Ranges (Cont.)</vt:lpstr>
      <vt:lpstr>Discussion of Results - Experiment A</vt:lpstr>
      <vt:lpstr>Visualization of Results - Experiment A</vt:lpstr>
      <vt:lpstr>Visualization of Results - Generated Samples</vt:lpstr>
      <vt:lpstr>Discussion of Results - Experiment B</vt:lpstr>
      <vt:lpstr>Visualization of Results - Experiment B</vt:lpstr>
      <vt:lpstr>Discussion of Results - Experiment C</vt:lpstr>
      <vt:lpstr>Visualization of Results - Experiment C</vt:lpstr>
      <vt:lpstr>Discussion of Results - Experiment D</vt:lpstr>
      <vt:lpstr>Visualization of Results - Experiment D</vt:lpstr>
      <vt:lpstr>Discussion of Results (Contd.)</vt:lpstr>
      <vt:lpstr>Pros and Cons of Approach</vt:lpstr>
      <vt:lpstr>Course Concepts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Venkata Naga Sai Bhavan Koppolu (Student)</cp:lastModifiedBy>
  <cp:revision>4</cp:revision>
  <dcterms:modified xsi:type="dcterms:W3CDTF">2026-06-21T11:33:14Z</dcterms:modified>
</cp:coreProperties>
</file>